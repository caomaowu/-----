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74" r:id="rId3"/>
    <p:sldId id="275" r:id="rId4"/>
    <p:sldId id="286" r:id="rId5"/>
    <p:sldId id="256" r:id="rId6"/>
    <p:sldId id="285" r:id="rId7"/>
    <p:sldId id="258" r:id="rId8"/>
    <p:sldId id="298" r:id="rId9"/>
    <p:sldId id="279" r:id="rId10"/>
    <p:sldId id="289" r:id="rId11"/>
    <p:sldId id="293" r:id="rId12"/>
    <p:sldId id="294" r:id="rId13"/>
    <p:sldId id="263" r:id="rId14"/>
    <p:sldId id="299" r:id="rId15"/>
    <p:sldId id="311" r:id="rId16"/>
    <p:sldId id="280" r:id="rId17"/>
    <p:sldId id="282" r:id="rId18"/>
    <p:sldId id="284" r:id="rId19"/>
    <p:sldId id="295" r:id="rId20"/>
    <p:sldId id="300" r:id="rId21"/>
    <p:sldId id="301" r:id="rId22"/>
    <p:sldId id="296" r:id="rId23"/>
    <p:sldId id="302" r:id="rId24"/>
    <p:sldId id="303" r:id="rId25"/>
    <p:sldId id="304" r:id="rId26"/>
    <p:sldId id="307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514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0" Type="http://schemas.openxmlformats.org/officeDocument/2006/relationships/tableStyles" Target="tableStyles.xml"/><Relationship Id="rId3" Type="http://schemas.openxmlformats.org/officeDocument/2006/relationships/slide" Target="slides/slide1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04875" y="1069975"/>
            <a:ext cx="10266045" cy="1932305"/>
          </a:xfrm>
        </p:spPr>
        <p:txBody>
          <a:bodyPr>
            <a:norm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19991560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侧板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模流分析报告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729778"/>
            <a:ext cx="9144000" cy="1655762"/>
          </a:xfrm>
        </p:spPr>
        <p:txBody>
          <a:bodyPr/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工程技术中心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翁叶浚、吴梓健、申芳华、张玉勋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2025.12.18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/>
        </p:nvSpPr>
        <p:spPr>
          <a:xfrm>
            <a:off x="4394503" y="21301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仿真工艺参数</a:t>
            </a:r>
            <a:endParaRPr lang="zh-CN" altLang="en-US" dirty="0"/>
          </a:p>
        </p:txBody>
      </p:sp>
      <p:sp>
        <p:nvSpPr>
          <p:cNvPr id="2" name="文本框 1"/>
          <p:cNvSpPr txBox="1"/>
          <p:nvPr/>
        </p:nvSpPr>
        <p:spPr>
          <a:xfrm>
            <a:off x="4014773" y="596103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工艺抽真空与</a:t>
            </a:r>
            <a:r>
              <a:rPr lang="zh-CN" altLang="en-US" dirty="0"/>
              <a:t>点冷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/>
              <a:t>浇排系统</a:t>
            </a:r>
            <a:r>
              <a:rPr lang="zh-CN" altLang="en-US" sz="3200" b="1" dirty="0"/>
              <a:t>三维图</a:t>
            </a:r>
            <a:endParaRPr lang="zh-CN" altLang="en-US" sz="3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温度演变图</a:t>
            </a:r>
            <a:endParaRPr lang="zh-CN" altLang="en-US" sz="2400" b="1" dirty="0"/>
          </a:p>
        </p:txBody>
      </p:sp>
      <p:sp>
        <p:nvSpPr>
          <p:cNvPr id="2" name="VID_wendu"/>
          <p:cNvSpPr/>
          <p:nvPr/>
        </p:nvSpPr>
        <p:spPr>
          <a:xfrm>
            <a:off x="67945" y="391795"/>
            <a:ext cx="12063730" cy="562927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337310" y="6220460"/>
            <a:ext cx="9258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dirty="0"/>
              <a:t>充填结束阶段铸件平均料液温度处于液相线以上。冷料风险</a:t>
            </a:r>
            <a:r>
              <a:rPr lang="zh-CN" altLang="en-US" dirty="0"/>
              <a:t>较小。</a:t>
            </a:r>
            <a:endParaRPr lang="zh-CN" altLang="en-US" dirty="0"/>
          </a:p>
        </p:txBody>
      </p:sp>
      <p:sp>
        <p:nvSpPr>
          <p:cNvPr id="2" name="IMG_wendu"/>
          <p:cNvSpPr/>
          <p:nvPr/>
        </p:nvSpPr>
        <p:spPr>
          <a:xfrm>
            <a:off x="116205" y="89535"/>
            <a:ext cx="11862435" cy="58928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卷气演变图</a:t>
            </a:r>
            <a:endParaRPr lang="zh-CN" altLang="en-US" sz="2400" b="1" dirty="0"/>
          </a:p>
        </p:txBody>
      </p:sp>
      <p:sp>
        <p:nvSpPr>
          <p:cNvPr id="2" name="VID_juanqi"/>
          <p:cNvSpPr/>
          <p:nvPr/>
        </p:nvSpPr>
        <p:spPr>
          <a:xfrm>
            <a:off x="77470" y="460375"/>
            <a:ext cx="12045315" cy="558101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卷气</a:t>
            </a:r>
            <a:r>
              <a:rPr lang="zh-CN" altLang="en-US" sz="2800" b="1" dirty="0"/>
              <a:t>数据</a:t>
            </a:r>
            <a:endParaRPr lang="zh-CN" altLang="en-US" sz="2800" b="1" dirty="0"/>
          </a:p>
        </p:txBody>
      </p:sp>
      <p:sp>
        <p:nvSpPr>
          <p:cNvPr id="4" name="VID_tijuanqi"/>
          <p:cNvSpPr/>
          <p:nvPr/>
        </p:nvSpPr>
        <p:spPr>
          <a:xfrm>
            <a:off x="86995" y="405765"/>
            <a:ext cx="11958955" cy="57607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946150" y="6028055"/>
            <a:ext cx="100431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大部分卷气能顺着渣包方向被收集，但是箭头所示部位，存在轻微卷</a:t>
            </a:r>
            <a:r>
              <a:rPr lang="zh-CN" altLang="en-US" sz="2400" dirty="0"/>
              <a:t>气。</a:t>
            </a:r>
            <a:endParaRPr lang="zh-CN" altLang="en-US" sz="2400" dirty="0"/>
          </a:p>
        </p:txBody>
      </p:sp>
      <p:sp>
        <p:nvSpPr>
          <p:cNvPr id="2" name="IMG_juanqi"/>
          <p:cNvSpPr/>
          <p:nvPr/>
        </p:nvSpPr>
        <p:spPr>
          <a:xfrm>
            <a:off x="76835" y="70485"/>
            <a:ext cx="12115800" cy="583057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222057" y="6272124"/>
            <a:ext cx="900238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铸件内部总卷气质量约为</a:t>
            </a:r>
            <a:r>
              <a:rPr lang="en-US" altLang="zh-CN" sz="2400" dirty="0"/>
              <a:t>0.06g</a:t>
            </a:r>
            <a:r>
              <a:rPr lang="zh-CN" altLang="en-US" sz="2400" dirty="0"/>
              <a:t>。</a:t>
            </a:r>
            <a:endParaRPr lang="en-US" altLang="zh-CN" sz="2400" dirty="0"/>
          </a:p>
        </p:txBody>
      </p:sp>
      <p:sp>
        <p:nvSpPr>
          <p:cNvPr id="2" name="IMG_tijuanqi"/>
          <p:cNvSpPr/>
          <p:nvPr/>
        </p:nvSpPr>
        <p:spPr>
          <a:xfrm>
            <a:off x="0" y="123190"/>
            <a:ext cx="12191365" cy="586486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卷气与气泡</a:t>
            </a:r>
            <a:endParaRPr lang="zh-CN" altLang="en-US" sz="2000" b="1" dirty="0"/>
          </a:p>
        </p:txBody>
      </p:sp>
      <p:sp>
        <p:nvSpPr>
          <p:cNvPr id="2" name="VID_qipao"/>
          <p:cNvSpPr/>
          <p:nvPr/>
        </p:nvSpPr>
        <p:spPr>
          <a:xfrm>
            <a:off x="0" y="398145"/>
            <a:ext cx="12059920" cy="57099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18845" y="6323330"/>
            <a:ext cx="103905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铸件内部分布着少量气泡</a:t>
            </a:r>
            <a:r>
              <a:rPr lang="en-US" altLang="zh-CN" sz="2400" dirty="0"/>
              <a:t>,</a:t>
            </a:r>
            <a:r>
              <a:rPr lang="zh-CN" altLang="en-US" sz="2400" dirty="0"/>
              <a:t>主要集中在卷气</a:t>
            </a:r>
            <a:r>
              <a:rPr lang="zh-CN" altLang="en-US" sz="2400" dirty="0"/>
              <a:t>较多区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红色</a:t>
            </a:r>
            <a:r>
              <a:rPr lang="zh-CN" altLang="en-US" sz="2400" dirty="0">
                <a:solidFill>
                  <a:srgbClr val="FF0000"/>
                </a:solidFill>
              </a:rPr>
              <a:t>方框标记部位</a:t>
            </a:r>
            <a:r>
              <a:rPr lang="en-US" altLang="zh-CN" sz="2400" dirty="0">
                <a:solidFill>
                  <a:srgbClr val="FF0000"/>
                </a:solidFill>
              </a:rPr>
              <a:t>)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3" name="IMG_qipao"/>
          <p:cNvSpPr/>
          <p:nvPr/>
        </p:nvSpPr>
        <p:spPr>
          <a:xfrm>
            <a:off x="0" y="70485"/>
            <a:ext cx="12087860" cy="605028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氧化物追踪云图</a:t>
            </a:r>
            <a:endParaRPr lang="zh-CN" altLang="en-US" sz="2000" b="1" dirty="0"/>
          </a:p>
        </p:txBody>
      </p:sp>
      <p:sp>
        <p:nvSpPr>
          <p:cNvPr id="2" name="VID_yanghuazha"/>
          <p:cNvSpPr/>
          <p:nvPr/>
        </p:nvSpPr>
        <p:spPr>
          <a:xfrm>
            <a:off x="-635" y="398780"/>
            <a:ext cx="12070080" cy="564261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氧化物数据</a:t>
            </a:r>
            <a:endParaRPr lang="zh-CN" altLang="en-US" sz="2000" b="1" dirty="0"/>
          </a:p>
        </p:txBody>
      </p:sp>
      <p:sp>
        <p:nvSpPr>
          <p:cNvPr id="2" name="VID_tijiyanghua"/>
          <p:cNvSpPr/>
          <p:nvPr/>
        </p:nvSpPr>
        <p:spPr>
          <a:xfrm>
            <a:off x="0" y="398780"/>
            <a:ext cx="12063730" cy="56324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铸件内氧化物含量较高，渣包体积太小，导致熔渣无法充分排出，卷气夹杂风险显著升高。</a:t>
            </a:r>
            <a:endParaRPr lang="zh-CN" altLang="en-US" sz="2400" dirty="0"/>
          </a:p>
        </p:txBody>
      </p:sp>
      <p:sp>
        <p:nvSpPr>
          <p:cNvPr id="2" name="IMG_yanghuazha"/>
          <p:cNvSpPr/>
          <p:nvPr/>
        </p:nvSpPr>
        <p:spPr>
          <a:xfrm>
            <a:off x="83185" y="0"/>
            <a:ext cx="11993245" cy="57118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铸件内氧化物含量较高，约为</a:t>
            </a:r>
            <a:r>
              <a:rPr lang="en-US" altLang="zh-CN" sz="2400" dirty="0"/>
              <a:t>500g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2" name="IMG_tijiyanghua"/>
          <p:cNvSpPr/>
          <p:nvPr/>
        </p:nvSpPr>
        <p:spPr>
          <a:xfrm>
            <a:off x="71755" y="0"/>
            <a:ext cx="12120245" cy="58654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料流追踪</a:t>
            </a:r>
            <a:endParaRPr lang="zh-CN" altLang="en-US" sz="2000" b="1" dirty="0"/>
          </a:p>
        </p:txBody>
      </p:sp>
      <p:sp>
        <p:nvSpPr>
          <p:cNvPr id="4" name="VID_liaoliuzhuizong"/>
          <p:cNvSpPr/>
          <p:nvPr/>
        </p:nvSpPr>
        <p:spPr>
          <a:xfrm>
            <a:off x="96520" y="398780"/>
            <a:ext cx="12018010" cy="563181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0" y="5873115"/>
            <a:ext cx="94748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料流填充比较顺畅，各个浇口之间干扰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较小。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IMG_liaoliuzhuizong"/>
          <p:cNvSpPr/>
          <p:nvPr/>
        </p:nvSpPr>
        <p:spPr>
          <a:xfrm>
            <a:off x="73025" y="92710"/>
            <a:ext cx="12119610" cy="578104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</a:t>
            </a:r>
            <a:endParaRPr lang="zh-CN" altLang="en-US" sz="2000" b="1" dirty="0"/>
          </a:p>
        </p:txBody>
      </p:sp>
      <p:sp>
        <p:nvSpPr>
          <p:cNvPr id="2" name="VID_suokong"/>
          <p:cNvSpPr/>
          <p:nvPr/>
        </p:nvSpPr>
        <p:spPr>
          <a:xfrm>
            <a:off x="95885" y="292735"/>
            <a:ext cx="11982450" cy="574738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凝固与缩孔（缩孔</a:t>
            </a:r>
            <a:r>
              <a:rPr lang="zh-CN" altLang="en-US" sz="2000" b="1" dirty="0"/>
              <a:t>率）</a:t>
            </a:r>
            <a:endParaRPr lang="zh-CN" altLang="en-US" sz="2000" b="1" dirty="0"/>
          </a:p>
        </p:txBody>
      </p:sp>
      <p:sp>
        <p:nvSpPr>
          <p:cNvPr id="2" name="VID_suokonglv"/>
          <p:cNvSpPr/>
          <p:nvPr/>
        </p:nvSpPr>
        <p:spPr>
          <a:xfrm>
            <a:off x="84455" y="398780"/>
            <a:ext cx="12028805" cy="576770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凝固与缩孔（缩孔</a:t>
            </a:r>
            <a:r>
              <a:rPr lang="zh-CN" altLang="en-US" sz="2000" b="1" dirty="0"/>
              <a:t>体积）</a:t>
            </a:r>
            <a:endParaRPr lang="zh-CN" altLang="en-US" sz="2000" b="1" dirty="0"/>
          </a:p>
        </p:txBody>
      </p:sp>
      <p:sp>
        <p:nvSpPr>
          <p:cNvPr id="2" name="VID_suokongtiji"/>
          <p:cNvSpPr/>
          <p:nvPr/>
        </p:nvSpPr>
        <p:spPr>
          <a:xfrm>
            <a:off x="635" y="398780"/>
            <a:ext cx="12054205" cy="57213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07950" y="6028055"/>
            <a:ext cx="1198181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图示部位壁厚较厚，特征为两槽位之间与凸台，凝固较慢，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缩孔开始形成时间</a:t>
            </a:r>
            <a:r>
              <a:rPr lang="en-US" altLang="zh-CN" sz="2400" dirty="0">
                <a:solidFill>
                  <a:srgbClr val="FF0000"/>
                </a:solidFill>
              </a:rPr>
              <a:t>1.02S</a:t>
            </a:r>
            <a:r>
              <a:rPr lang="zh-CN" altLang="en-US" sz="2400" dirty="0">
                <a:solidFill>
                  <a:srgbClr val="FF0000"/>
                </a:solidFill>
              </a:rPr>
              <a:t>到</a:t>
            </a:r>
            <a:r>
              <a:rPr lang="en-US" altLang="zh-CN" sz="2400" dirty="0">
                <a:solidFill>
                  <a:srgbClr val="FF0000"/>
                </a:solidFill>
              </a:rPr>
              <a:t>2s</a:t>
            </a:r>
            <a:r>
              <a:rPr lang="zh-CN" altLang="en-US" sz="2400" dirty="0">
                <a:solidFill>
                  <a:srgbClr val="FF0000"/>
                </a:solidFill>
              </a:rPr>
              <a:t>之间，浇口开始冷却时间</a:t>
            </a:r>
            <a:r>
              <a:rPr lang="zh-CN" altLang="en-US" sz="2400" dirty="0">
                <a:solidFill>
                  <a:srgbClr val="FF0000"/>
                </a:solidFill>
              </a:rPr>
              <a:t>约为</a:t>
            </a:r>
            <a:r>
              <a:rPr lang="en-US" altLang="zh-CN" sz="2400" dirty="0">
                <a:solidFill>
                  <a:srgbClr val="FF0000"/>
                </a:solidFill>
              </a:rPr>
              <a:t>1.18s</a:t>
            </a:r>
            <a:r>
              <a:rPr lang="zh-CN" altLang="en-US" sz="2400" dirty="0">
                <a:solidFill>
                  <a:srgbClr val="FF0000"/>
                </a:solidFill>
              </a:rPr>
              <a:t>）</a:t>
            </a:r>
            <a:r>
              <a:rPr lang="en-US" altLang="zh-CN" sz="2400" dirty="0">
                <a:solidFill>
                  <a:srgbClr val="FF0000"/>
                </a:solidFill>
              </a:rPr>
              <a:t>,</a:t>
            </a:r>
            <a:r>
              <a:rPr lang="zh-CN" altLang="en-US" sz="2400" dirty="0"/>
              <a:t>为缩孔主要聚集地，可加强相关区域的</a:t>
            </a:r>
            <a:r>
              <a:rPr lang="zh-CN" altLang="en-US" sz="2400" dirty="0"/>
              <a:t>冷却。</a:t>
            </a:r>
            <a:endParaRPr lang="zh-CN" altLang="en-US" sz="2400" dirty="0"/>
          </a:p>
        </p:txBody>
      </p:sp>
      <p:sp>
        <p:nvSpPr>
          <p:cNvPr id="7" name="IMG_suokong"/>
          <p:cNvSpPr/>
          <p:nvPr/>
        </p:nvSpPr>
        <p:spPr>
          <a:xfrm>
            <a:off x="107950" y="78105"/>
            <a:ext cx="11982450" cy="584136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645920" y="6203315"/>
            <a:ext cx="73583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铸件内部缩孔率约为</a:t>
            </a:r>
            <a:r>
              <a:rPr lang="en-US" altLang="zh-CN" sz="2400" dirty="0"/>
              <a:t>0.55%</a:t>
            </a:r>
            <a:r>
              <a:rPr lang="zh-CN" altLang="en-US" sz="2400" dirty="0"/>
              <a:t>，总缩孔体积约</a:t>
            </a:r>
            <a:r>
              <a:rPr lang="en-US" altLang="zh-CN" sz="2400" dirty="0"/>
              <a:t>0.75cm³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2" name="IMG_suokonglv"/>
          <p:cNvSpPr/>
          <p:nvPr/>
        </p:nvSpPr>
        <p:spPr>
          <a:xfrm>
            <a:off x="0" y="0"/>
            <a:ext cx="5961380" cy="593344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IMG_suokongtiji"/>
          <p:cNvSpPr/>
          <p:nvPr/>
        </p:nvSpPr>
        <p:spPr>
          <a:xfrm>
            <a:off x="6307455" y="34925"/>
            <a:ext cx="5884545" cy="589851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热</a:t>
            </a:r>
            <a:r>
              <a:rPr lang="zh-CN" altLang="en-US" sz="2400" b="1" dirty="0"/>
              <a:t>节</a:t>
            </a:r>
            <a:endParaRPr lang="zh-CN" altLang="en-US" sz="2400" b="1" dirty="0"/>
          </a:p>
        </p:txBody>
      </p:sp>
      <p:sp>
        <p:nvSpPr>
          <p:cNvPr id="2" name="VID_rejie"/>
          <p:cNvSpPr/>
          <p:nvPr/>
        </p:nvSpPr>
        <p:spPr>
          <a:xfrm>
            <a:off x="-635" y="389890"/>
            <a:ext cx="12193270" cy="563499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热结代表的是铸件该位置的凝固时间长短，越慢凝固的区域在后续形成缩孔的可能性越大。建议持压时间大于</a:t>
            </a:r>
            <a:r>
              <a:rPr lang="en-US" altLang="zh-CN" sz="2400" dirty="0"/>
              <a:t>5s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2" name="IMG_rejie"/>
          <p:cNvSpPr/>
          <p:nvPr/>
        </p:nvSpPr>
        <p:spPr>
          <a:xfrm>
            <a:off x="0" y="635"/>
            <a:ext cx="12192000" cy="58483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yttyyy</a:t>
            </a:r>
            <a:endParaRPr lang="en-US" altLang="zh-C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559206" y="630370"/>
            <a:ext cx="16602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结论：</a:t>
            </a:r>
            <a:endParaRPr lang="zh-CN" altLang="en-US" sz="3600" b="1" dirty="0">
              <a:solidFill>
                <a:srgbClr val="FF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65826" y="1614059"/>
            <a:ext cx="10955044" cy="2553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200" dirty="0">
                <a:sym typeface="+mn-ea"/>
              </a:rPr>
              <a:t>1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大部分卷气能顺着渣包方向被收集，但是</a:t>
            </a:r>
            <a:r>
              <a:rPr lang="zh-CN" altLang="en-US" sz="3200" dirty="0">
                <a:sym typeface="+mn-ea"/>
              </a:rPr>
              <a:t>部分部位存在轻微卷气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2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铸件内部缩孔率约为</a:t>
            </a:r>
            <a:r>
              <a:rPr lang="en-US" altLang="zh-CN" sz="3200" dirty="0">
                <a:sym typeface="+mn-ea"/>
              </a:rPr>
              <a:t>0.55%</a:t>
            </a:r>
            <a:r>
              <a:rPr lang="zh-CN" altLang="en-US" sz="3200" dirty="0">
                <a:sym typeface="+mn-ea"/>
              </a:rPr>
              <a:t>，总缩孔体积约</a:t>
            </a:r>
            <a:r>
              <a:rPr lang="en-US" altLang="zh-CN" sz="3200" dirty="0">
                <a:sym typeface="+mn-ea"/>
              </a:rPr>
              <a:t>25cm³</a:t>
            </a:r>
            <a:r>
              <a:rPr lang="zh-CN" altLang="en-US" sz="3200" dirty="0">
                <a:sym typeface="+mn-ea"/>
              </a:rPr>
              <a:t>。缩孔主要集中在凝固较慢区域</a:t>
            </a:r>
            <a:r>
              <a:rPr lang="zh-CN" altLang="en-US" sz="3200" dirty="0">
                <a:sym typeface="+mn-ea"/>
              </a:rPr>
              <a:t>。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3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铸件内边缘氧化物含量较高。</a:t>
            </a:r>
            <a:endParaRPr lang="zh-CN" altLang="en-US" sz="3200" dirty="0"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582</Words>
  <Application>WPS 演示</Application>
  <PresentationFormat>宽屏</PresentationFormat>
  <Paragraphs>62</Paragraphs>
  <Slides>25</Slides>
  <Notes>0</Notes>
  <HiddenSlides>0</HiddenSlides>
  <MMClips>5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3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19991560侧板-模流分析报告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   </cp:lastModifiedBy>
  <cp:revision>269</cp:revision>
  <dcterms:created xsi:type="dcterms:W3CDTF">2023-08-09T12:44:00Z</dcterms:created>
  <dcterms:modified xsi:type="dcterms:W3CDTF">2025-12-23T02:22:01Z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48E4DDF4A3CC46BF9DA6514C99E0020A_13</vt:lpwstr>
  </property>
</Properties>
</file>