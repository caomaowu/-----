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74" r:id="rId3"/>
    <p:sldId id="275" r:id="rId4"/>
    <p:sldId id="286" r:id="rId5"/>
    <p:sldId id="256" r:id="rId6"/>
    <p:sldId id="285" r:id="rId7"/>
    <p:sldId id="258" r:id="rId8"/>
    <p:sldId id="298" r:id="rId9"/>
    <p:sldId id="279" r:id="rId10"/>
    <p:sldId id="289" r:id="rId11"/>
    <p:sldId id="293" r:id="rId12"/>
    <p:sldId id="294" r:id="rId13"/>
    <p:sldId id="263" r:id="rId14"/>
    <p:sldId id="299" r:id="rId15"/>
    <p:sldId id="311" r:id="rId16"/>
    <p:sldId id="280" r:id="rId17"/>
    <p:sldId id="282" r:id="rId18"/>
    <p:sldId id="284" r:id="rId19"/>
    <p:sldId id="295" r:id="rId20"/>
    <p:sldId id="300" r:id="rId21"/>
    <p:sldId id="301" r:id="rId22"/>
    <p:sldId id="296" r:id="rId23"/>
    <p:sldId id="302" r:id="rId24"/>
    <p:sldId id="303" r:id="rId25"/>
    <p:sldId id="304" r:id="rId26"/>
    <p:sldId id="307" r:id="rId2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514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0" Type="http://schemas.openxmlformats.org/officeDocument/2006/relationships/tableStyles" Target="tableStyles.xml"/><Relationship Id="rId3" Type="http://schemas.openxmlformats.org/officeDocument/2006/relationships/slide" Target="slides/slide1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04875" y="1069975"/>
            <a:ext cx="10266045" cy="1932305"/>
          </a:xfrm>
        </p:spPr>
        <p:txBody>
          <a:bodyPr>
            <a:norm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19991560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侧板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模流分析报告</a:t>
            </a:r>
            <a:endParaRPr lang="zh-CN" alt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729778"/>
            <a:ext cx="9144000" cy="1655762"/>
          </a:xfrm>
        </p:spPr>
        <p:txBody>
          <a:bodyPr/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工程技术中心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翁叶浚、吴梓健、申芳华、张玉勋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2025.12.18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26"/>
          <p:cNvSpPr txBox="1"/>
          <p:nvPr/>
        </p:nvSpPr>
        <p:spPr>
          <a:xfrm>
            <a:off x="4394503" y="213014"/>
            <a:ext cx="4163626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仿真工艺参数</a:t>
            </a:r>
            <a:endParaRPr lang="zh-CN" altLang="en-US" dirty="0"/>
          </a:p>
        </p:txBody>
      </p:sp>
      <p:sp>
        <p:nvSpPr>
          <p:cNvPr id="2" name="文本框 1"/>
          <p:cNvSpPr txBox="1"/>
          <p:nvPr/>
        </p:nvSpPr>
        <p:spPr>
          <a:xfrm>
            <a:off x="4014773" y="5961034"/>
            <a:ext cx="4163626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工艺抽真空与</a:t>
            </a:r>
            <a:r>
              <a:rPr lang="zh-CN" altLang="en-US" dirty="0"/>
              <a:t>点冷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/>
              <a:t>浇排系统</a:t>
            </a:r>
            <a:r>
              <a:rPr lang="zh-CN" altLang="en-US" sz="3200" b="1" dirty="0"/>
              <a:t>三维图</a:t>
            </a:r>
            <a:endParaRPr lang="zh-CN" altLang="en-US" sz="32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/>
              <a:t>温度演变图</a:t>
            </a:r>
            <a:endParaRPr lang="zh-CN" altLang="en-US" sz="3200" b="1" dirty="0"/>
          </a:p>
        </p:txBody>
      </p:sp>
      <p:sp>
        <p:nvSpPr>
          <p:cNvPr id="2" name="VID_wendu"/>
          <p:cNvSpPr/>
          <p:nvPr/>
        </p:nvSpPr>
        <p:spPr>
          <a:xfrm>
            <a:off x="765175" y="758190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337310" y="6220460"/>
            <a:ext cx="9258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dirty="0"/>
              <a:t>充填结束阶段铸件平均料液温度处于液相线以上。</a:t>
            </a:r>
            <a:r>
              <a:rPr lang="zh-CN" altLang="en-US" dirty="0"/>
              <a:t>没有冷料</a:t>
            </a:r>
            <a:r>
              <a:rPr lang="zh-CN" altLang="en-US" dirty="0"/>
              <a:t>风险。</a:t>
            </a:r>
            <a:endParaRPr lang="zh-CN" altLang="en-US" dirty="0"/>
          </a:p>
        </p:txBody>
      </p:sp>
      <p:sp>
        <p:nvSpPr>
          <p:cNvPr id="2" name="IMG_wendu"/>
          <p:cNvSpPr/>
          <p:nvPr/>
        </p:nvSpPr>
        <p:spPr>
          <a:xfrm>
            <a:off x="765175" y="400050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卷气演变图</a:t>
            </a:r>
            <a:endParaRPr lang="zh-CN" altLang="en-US" sz="2800" b="1" dirty="0"/>
          </a:p>
        </p:txBody>
      </p:sp>
      <p:sp>
        <p:nvSpPr>
          <p:cNvPr id="2" name="VID_juanqi"/>
          <p:cNvSpPr/>
          <p:nvPr/>
        </p:nvSpPr>
        <p:spPr>
          <a:xfrm>
            <a:off x="765175" y="758190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卷气</a:t>
            </a:r>
            <a:r>
              <a:rPr lang="zh-CN" altLang="en-US" sz="2800" b="1" dirty="0"/>
              <a:t>数据</a:t>
            </a:r>
            <a:endParaRPr lang="zh-CN" altLang="en-US" sz="2800" b="1" dirty="0"/>
          </a:p>
        </p:txBody>
      </p:sp>
      <p:sp>
        <p:nvSpPr>
          <p:cNvPr id="4" name="VID_tijuanqi"/>
          <p:cNvSpPr/>
          <p:nvPr/>
        </p:nvSpPr>
        <p:spPr>
          <a:xfrm>
            <a:off x="765175" y="758190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946150" y="6028055"/>
            <a:ext cx="100431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大部分卷气能顺着渣包方向被收集，但是箭头所示部位，存在轻微卷</a:t>
            </a:r>
            <a:r>
              <a:rPr lang="zh-CN" altLang="en-US" sz="2400" dirty="0"/>
              <a:t>气。</a:t>
            </a:r>
            <a:endParaRPr lang="zh-CN" altLang="en-US" sz="2400" dirty="0"/>
          </a:p>
        </p:txBody>
      </p:sp>
      <p:sp>
        <p:nvSpPr>
          <p:cNvPr id="2" name="IMG_juanqi"/>
          <p:cNvSpPr/>
          <p:nvPr/>
        </p:nvSpPr>
        <p:spPr>
          <a:xfrm>
            <a:off x="765175" y="438785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222057" y="6272124"/>
            <a:ext cx="9002389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铸件内部总卷气质量约为</a:t>
            </a:r>
            <a:r>
              <a:rPr lang="en-US" altLang="zh-CN" sz="2400" dirty="0"/>
              <a:t>0.06g</a:t>
            </a:r>
            <a:r>
              <a:rPr lang="zh-CN" altLang="en-US" sz="2400" dirty="0"/>
              <a:t>。</a:t>
            </a:r>
            <a:endParaRPr lang="en-US" altLang="zh-CN" sz="2400" dirty="0"/>
          </a:p>
        </p:txBody>
      </p:sp>
      <p:sp>
        <p:nvSpPr>
          <p:cNvPr id="2" name="IMG_tijuanqi"/>
          <p:cNvSpPr/>
          <p:nvPr/>
        </p:nvSpPr>
        <p:spPr>
          <a:xfrm>
            <a:off x="765175" y="486410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卷气与</a:t>
            </a:r>
            <a:r>
              <a:rPr lang="zh-CN" altLang="en-US" sz="2800" b="1" dirty="0"/>
              <a:t>气泡</a:t>
            </a:r>
            <a:endParaRPr lang="zh-CN" altLang="en-US" sz="2800" b="1" dirty="0"/>
          </a:p>
        </p:txBody>
      </p:sp>
      <p:sp>
        <p:nvSpPr>
          <p:cNvPr id="2" name="VID_qipao"/>
          <p:cNvSpPr/>
          <p:nvPr/>
        </p:nvSpPr>
        <p:spPr>
          <a:xfrm>
            <a:off x="765175" y="758190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18845" y="6323330"/>
            <a:ext cx="103905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铸件内部分布着少量气泡</a:t>
            </a:r>
            <a:r>
              <a:rPr lang="en-US" altLang="zh-CN" sz="2400" dirty="0"/>
              <a:t>,</a:t>
            </a:r>
            <a:r>
              <a:rPr lang="zh-CN" altLang="en-US" sz="2400" dirty="0"/>
              <a:t>主要集中在卷气严重区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红色</a:t>
            </a:r>
            <a:r>
              <a:rPr lang="zh-CN" altLang="en-US" sz="2400" dirty="0">
                <a:solidFill>
                  <a:srgbClr val="FF0000"/>
                </a:solidFill>
              </a:rPr>
              <a:t>方框标记部位</a:t>
            </a:r>
            <a:r>
              <a:rPr lang="en-US" altLang="zh-CN" sz="2400" dirty="0">
                <a:solidFill>
                  <a:srgbClr val="FF0000"/>
                </a:solidFill>
              </a:rPr>
              <a:t>)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3" name="IMG_qipao"/>
          <p:cNvSpPr/>
          <p:nvPr/>
        </p:nvSpPr>
        <p:spPr>
          <a:xfrm>
            <a:off x="765175" y="758190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氧化物追踪云图</a:t>
            </a:r>
            <a:endParaRPr lang="zh-CN" altLang="en-US" sz="2800" b="1" dirty="0"/>
          </a:p>
        </p:txBody>
      </p:sp>
      <p:sp>
        <p:nvSpPr>
          <p:cNvPr id="2" name="VID_yanghuazha"/>
          <p:cNvSpPr/>
          <p:nvPr/>
        </p:nvSpPr>
        <p:spPr>
          <a:xfrm>
            <a:off x="765175" y="758190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氧化物</a:t>
            </a:r>
            <a:r>
              <a:rPr lang="zh-CN" altLang="en-US" sz="2800" b="1" dirty="0"/>
              <a:t>数据</a:t>
            </a:r>
            <a:endParaRPr lang="zh-CN" altLang="en-US" sz="2800" b="1" dirty="0"/>
          </a:p>
        </p:txBody>
      </p:sp>
      <p:sp>
        <p:nvSpPr>
          <p:cNvPr id="2" name="VID_tijiyanghua"/>
          <p:cNvSpPr/>
          <p:nvPr/>
        </p:nvSpPr>
        <p:spPr>
          <a:xfrm>
            <a:off x="765175" y="758190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187" y="5957939"/>
            <a:ext cx="11141476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铸件内氧化物含量较高，渣包体积太小，导致熔渣无法充分排出，卷气夹杂风险显著升高。</a:t>
            </a:r>
            <a:endParaRPr lang="zh-CN" altLang="en-US" sz="2400" dirty="0"/>
          </a:p>
        </p:txBody>
      </p:sp>
      <p:sp>
        <p:nvSpPr>
          <p:cNvPr id="2" name="IMG_yanghuazha"/>
          <p:cNvSpPr/>
          <p:nvPr/>
        </p:nvSpPr>
        <p:spPr>
          <a:xfrm>
            <a:off x="775335" y="186055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187" y="5957939"/>
            <a:ext cx="1114147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铸件内氧化物含量较高</a:t>
            </a:r>
            <a:r>
              <a:rPr lang="en-US" altLang="zh-CN" sz="2400" dirty="0"/>
              <a:t>1111G</a:t>
            </a:r>
            <a:endParaRPr lang="en-US" altLang="zh-CN" sz="2400" dirty="0"/>
          </a:p>
        </p:txBody>
      </p:sp>
      <p:sp>
        <p:nvSpPr>
          <p:cNvPr id="2" name="IMG_tijiyanghua"/>
          <p:cNvSpPr/>
          <p:nvPr/>
        </p:nvSpPr>
        <p:spPr>
          <a:xfrm>
            <a:off x="775335" y="186055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-87" y="56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料流</a:t>
            </a:r>
            <a:r>
              <a:rPr lang="zh-CN" altLang="en-US" sz="2800" b="1" dirty="0"/>
              <a:t>追踪</a:t>
            </a:r>
            <a:endParaRPr lang="zh-CN" altLang="en-US" sz="2800" b="1" dirty="0"/>
          </a:p>
        </p:txBody>
      </p:sp>
      <p:sp>
        <p:nvSpPr>
          <p:cNvPr id="4" name="VID_liaoliuzhuizong"/>
          <p:cNvSpPr/>
          <p:nvPr/>
        </p:nvSpPr>
        <p:spPr>
          <a:xfrm>
            <a:off x="765175" y="622300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0" y="5873115"/>
            <a:ext cx="94748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料流填充比较顺畅，各个浇口之间干扰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较小。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IMG_liaoliuzhuizong"/>
          <p:cNvSpPr/>
          <p:nvPr/>
        </p:nvSpPr>
        <p:spPr>
          <a:xfrm>
            <a:off x="765175" y="321945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凝固与</a:t>
            </a:r>
            <a:r>
              <a:rPr lang="zh-CN" altLang="en-US" sz="2800" b="1" dirty="0"/>
              <a:t>缩孔</a:t>
            </a:r>
            <a:endParaRPr lang="zh-CN" altLang="en-US" sz="2800" b="1" dirty="0"/>
          </a:p>
        </p:txBody>
      </p:sp>
      <p:sp>
        <p:nvSpPr>
          <p:cNvPr id="2" name="VID_suokong"/>
          <p:cNvSpPr/>
          <p:nvPr/>
        </p:nvSpPr>
        <p:spPr>
          <a:xfrm>
            <a:off x="765175" y="631825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凝固与</a:t>
            </a:r>
            <a:r>
              <a:rPr lang="zh-CN" altLang="en-US" sz="2800" b="1" dirty="0"/>
              <a:t>缩孔</a:t>
            </a:r>
            <a:endParaRPr lang="zh-CN" altLang="en-US" sz="2800" b="1" dirty="0"/>
          </a:p>
        </p:txBody>
      </p:sp>
      <p:sp>
        <p:nvSpPr>
          <p:cNvPr id="2" name="VID_suokonglv"/>
          <p:cNvSpPr/>
          <p:nvPr/>
        </p:nvSpPr>
        <p:spPr>
          <a:xfrm>
            <a:off x="765175" y="758190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凝固与</a:t>
            </a:r>
            <a:r>
              <a:rPr lang="zh-CN" altLang="en-US" sz="2800" b="1" dirty="0"/>
              <a:t>缩孔</a:t>
            </a:r>
            <a:endParaRPr lang="zh-CN" altLang="en-US" sz="2800" b="1" dirty="0"/>
          </a:p>
        </p:txBody>
      </p:sp>
      <p:sp>
        <p:nvSpPr>
          <p:cNvPr id="2" name="VID_suokongtiji"/>
          <p:cNvSpPr/>
          <p:nvPr/>
        </p:nvSpPr>
        <p:spPr>
          <a:xfrm>
            <a:off x="765175" y="758190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118870" y="5792470"/>
            <a:ext cx="870712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图示部位壁厚较厚，特征为两槽位之间与</a:t>
            </a:r>
            <a:r>
              <a:rPr lang="zh-CN" altLang="en-US" sz="2400" dirty="0"/>
              <a:t>凸台，凝固较慢，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缩孔形成时间</a:t>
            </a:r>
            <a:r>
              <a:rPr lang="en-US" altLang="zh-CN" sz="2400" dirty="0">
                <a:solidFill>
                  <a:srgbClr val="FF0000"/>
                </a:solidFill>
              </a:rPr>
              <a:t>1.02S</a:t>
            </a:r>
            <a:r>
              <a:rPr lang="zh-CN" altLang="en-US" sz="2400" dirty="0">
                <a:solidFill>
                  <a:srgbClr val="FF0000"/>
                </a:solidFill>
              </a:rPr>
              <a:t>，浇口冷却时间为</a:t>
            </a:r>
            <a:r>
              <a:rPr lang="en-US" altLang="zh-CN" sz="2400" dirty="0">
                <a:solidFill>
                  <a:srgbClr val="FF0000"/>
                </a:solidFill>
              </a:rPr>
              <a:t>1.18s</a:t>
            </a:r>
            <a:r>
              <a:rPr lang="zh-CN" altLang="en-US" sz="2400" dirty="0">
                <a:solidFill>
                  <a:srgbClr val="FF0000"/>
                </a:solidFill>
              </a:rPr>
              <a:t>）</a:t>
            </a:r>
            <a:r>
              <a:rPr lang="en-US" altLang="zh-CN" sz="2400" dirty="0">
                <a:solidFill>
                  <a:srgbClr val="FF0000"/>
                </a:solidFill>
              </a:rPr>
              <a:t>,</a:t>
            </a:r>
            <a:r>
              <a:rPr lang="zh-CN" altLang="en-US" sz="2400" dirty="0"/>
              <a:t>为缩孔主要聚集地，可加强相关区域的</a:t>
            </a:r>
            <a:r>
              <a:rPr lang="zh-CN" altLang="en-US" sz="2400" dirty="0"/>
              <a:t>冷却。</a:t>
            </a:r>
            <a:endParaRPr lang="zh-CN" altLang="en-US" sz="2400" dirty="0"/>
          </a:p>
        </p:txBody>
      </p:sp>
      <p:sp>
        <p:nvSpPr>
          <p:cNvPr id="7" name="IMG_suokong"/>
          <p:cNvSpPr/>
          <p:nvPr/>
        </p:nvSpPr>
        <p:spPr>
          <a:xfrm>
            <a:off x="765175" y="312420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645920" y="6203315"/>
            <a:ext cx="73583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铸件内部缩孔率约为</a:t>
            </a:r>
            <a:r>
              <a:rPr lang="en-US" altLang="zh-CN" sz="2400" dirty="0"/>
              <a:t>0.55%</a:t>
            </a:r>
            <a:r>
              <a:rPr lang="zh-CN" altLang="en-US" sz="2400" dirty="0"/>
              <a:t>，总缩孔体积约</a:t>
            </a:r>
            <a:r>
              <a:rPr lang="en-US" altLang="zh-CN" sz="2400" dirty="0"/>
              <a:t>0.75cm³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2" name="IMG_suokonglv"/>
          <p:cNvSpPr/>
          <p:nvPr/>
        </p:nvSpPr>
        <p:spPr>
          <a:xfrm>
            <a:off x="115570" y="186690"/>
            <a:ext cx="5058410" cy="574548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IMG_suokongtiji"/>
          <p:cNvSpPr/>
          <p:nvPr/>
        </p:nvSpPr>
        <p:spPr>
          <a:xfrm>
            <a:off x="6319520" y="186690"/>
            <a:ext cx="5058410" cy="574548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热</a:t>
            </a:r>
            <a:r>
              <a:rPr lang="zh-CN" altLang="en-US" sz="2800" b="1" dirty="0"/>
              <a:t>节</a:t>
            </a:r>
            <a:endParaRPr lang="zh-CN" altLang="en-US" sz="2800" b="1" dirty="0"/>
          </a:p>
        </p:txBody>
      </p:sp>
      <p:sp>
        <p:nvSpPr>
          <p:cNvPr id="2" name="VID_rejie"/>
          <p:cNvSpPr/>
          <p:nvPr/>
        </p:nvSpPr>
        <p:spPr>
          <a:xfrm>
            <a:off x="659130" y="874395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458470" y="5840095"/>
            <a:ext cx="113893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热结代表的是铸件该位置的凝固时间长短，越慢凝固的区域在后续形成缩孔的可能性越大。</a:t>
            </a:r>
            <a:endParaRPr lang="zh-CN" altLang="en-US" sz="2400" dirty="0"/>
          </a:p>
        </p:txBody>
      </p:sp>
      <p:sp>
        <p:nvSpPr>
          <p:cNvPr id="2" name="IMG_rejie"/>
          <p:cNvSpPr/>
          <p:nvPr/>
        </p:nvSpPr>
        <p:spPr>
          <a:xfrm>
            <a:off x="765175" y="311785"/>
            <a:ext cx="10457180" cy="54082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yttyyy</a:t>
            </a:r>
            <a:endParaRPr lang="en-US" altLang="zh-C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559206" y="630370"/>
            <a:ext cx="16602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结论：</a:t>
            </a:r>
            <a:endParaRPr lang="zh-CN" altLang="en-US" sz="3600" b="1" dirty="0">
              <a:solidFill>
                <a:srgbClr val="FF0000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65826" y="1614059"/>
            <a:ext cx="10955044" cy="2061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200" dirty="0">
                <a:sym typeface="+mn-ea"/>
              </a:rPr>
              <a:t>1</a:t>
            </a:r>
            <a:r>
              <a:rPr lang="zh-CN" altLang="en-US" sz="3200" dirty="0">
                <a:sym typeface="+mn-ea"/>
              </a:rPr>
              <a:t>、根据仿真结果来看，渣包体积较小，无法充分容纳</a:t>
            </a:r>
            <a:r>
              <a:rPr lang="zh-CN" altLang="en-US" sz="3200" dirty="0">
                <a:sym typeface="+mn-ea"/>
              </a:rPr>
              <a:t>氧化物。</a:t>
            </a:r>
            <a:endParaRPr lang="zh-CN" altLang="en-US" sz="3200" dirty="0">
              <a:sym typeface="+mn-ea"/>
            </a:endParaRPr>
          </a:p>
          <a:p>
            <a:pPr algn="just"/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2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铸件内部缩孔率约为</a:t>
            </a:r>
            <a:r>
              <a:rPr lang="en-US" altLang="zh-CN" sz="3200" dirty="0">
                <a:sym typeface="+mn-ea"/>
              </a:rPr>
              <a:t>0.55%</a:t>
            </a:r>
            <a:r>
              <a:rPr lang="zh-CN" altLang="en-US" sz="3200" dirty="0">
                <a:sym typeface="+mn-ea"/>
              </a:rPr>
              <a:t>，总缩孔体积约</a:t>
            </a:r>
            <a:r>
              <a:rPr lang="en-US" altLang="zh-CN" sz="3200" dirty="0">
                <a:sym typeface="+mn-ea"/>
              </a:rPr>
              <a:t>0.75cm³</a:t>
            </a:r>
            <a:r>
              <a:rPr lang="zh-CN" altLang="en-US" sz="3200" dirty="0">
                <a:sym typeface="+mn-ea"/>
              </a:rPr>
              <a:t>。缩孔主要集中在凝固较慢区域</a:t>
            </a:r>
            <a:r>
              <a:rPr lang="zh-CN" altLang="en-US" sz="3200" dirty="0">
                <a:sym typeface="+mn-ea"/>
              </a:rPr>
              <a:t>。</a:t>
            </a:r>
            <a:endParaRPr lang="zh-CN" altLang="en-US" sz="3200" dirty="0"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531</Words>
  <Application>WPS 演示</Application>
  <PresentationFormat>宽屏</PresentationFormat>
  <Paragraphs>62</Paragraphs>
  <Slides>25</Slides>
  <Notes>0</Notes>
  <HiddenSlides>0</HiddenSlides>
  <MMClips>5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3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19991560侧板-模流分析报告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   </cp:lastModifiedBy>
  <cp:revision>258</cp:revision>
  <dcterms:created xsi:type="dcterms:W3CDTF">2023-08-09T12:44:00Z</dcterms:created>
  <dcterms:modified xsi:type="dcterms:W3CDTF">2025-12-22T05:55:18Z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0E4EF099BB3A4BB8BEE49755460E803F_13</vt:lpwstr>
  </property>
</Properties>
</file>