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74" r:id="rId3"/>
    <p:sldId id="275" r:id="rId4"/>
    <p:sldId id="286" r:id="rId5"/>
    <p:sldId id="256" r:id="rId6"/>
    <p:sldId id="314" r:id="rId7"/>
    <p:sldId id="328" r:id="rId8"/>
    <p:sldId id="285" r:id="rId9"/>
    <p:sldId id="329" r:id="rId10"/>
    <p:sldId id="258" r:id="rId11"/>
    <p:sldId id="318" r:id="rId12"/>
    <p:sldId id="298" r:id="rId13"/>
    <p:sldId id="320" r:id="rId14"/>
    <p:sldId id="279" r:id="rId15"/>
    <p:sldId id="319" r:id="rId16"/>
    <p:sldId id="289" r:id="rId17"/>
    <p:sldId id="321" r:id="rId18"/>
    <p:sldId id="293" r:id="rId19"/>
    <p:sldId id="294" r:id="rId20"/>
    <p:sldId id="263" r:id="rId21"/>
    <p:sldId id="322" r:id="rId22"/>
    <p:sldId id="326" r:id="rId23"/>
    <p:sldId id="299" r:id="rId24"/>
    <p:sldId id="311" r:id="rId25"/>
    <p:sldId id="280" r:id="rId26"/>
    <p:sldId id="323" r:id="rId27"/>
    <p:sldId id="327" r:id="rId28"/>
    <p:sldId id="282" r:id="rId29"/>
    <p:sldId id="317" r:id="rId30"/>
    <p:sldId id="284" r:id="rId31"/>
    <p:sldId id="295" r:id="rId32"/>
    <p:sldId id="300" r:id="rId33"/>
    <p:sldId id="296" r:id="rId34"/>
    <p:sldId id="302" r:id="rId35"/>
    <p:sldId id="303" r:id="rId36"/>
    <p:sldId id="304" r:id="rId37"/>
    <p:sldId id="312" r:id="rId38"/>
    <p:sldId id="313" r:id="rId39"/>
    <p:sldId id="307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48"/>
      </p:cViewPr>
      <p:guideLst>
        <p:guide orient="horz" pos="2120"/>
        <p:guide pos="38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4875" y="1069975"/>
            <a:ext cx="10266045" cy="193230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模流分析报告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29778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工程技术中心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翁叶浚、吴梓健、申芳华、张玉勋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4394503" y="21301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仿真工艺参数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33724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浇排系统</a:t>
            </a:r>
            <a:r>
              <a:rPr lang="zh-CN" altLang="en-US" sz="3200" b="1" dirty="0"/>
              <a:t>三维图</a:t>
            </a:r>
            <a:endParaRPr lang="zh-CN" altLang="en-US" sz="32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wendu1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wendu2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wenduguolv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0"/>
            <a:ext cx="4082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ym typeface="+mn-ea"/>
              </a:rPr>
              <a:t>温度</a:t>
            </a:r>
            <a:r>
              <a:rPr lang="en-US" altLang="zh-CN" sz="2400" b="1" dirty="0">
                <a:sym typeface="+mn-ea"/>
              </a:rPr>
              <a:t>&lt;600</a:t>
            </a:r>
            <a:r>
              <a:rPr lang="zh-CN" altLang="en-US" sz="2400" b="1" dirty="0">
                <a:sym typeface="+mn-ea"/>
              </a:rPr>
              <a:t>度</a:t>
            </a:r>
            <a:r>
              <a:rPr lang="en-US" altLang="zh-CN" sz="2400" b="1" dirty="0">
                <a:sym typeface="+mn-ea"/>
              </a:rPr>
              <a:t> </a:t>
            </a:r>
            <a:r>
              <a:rPr lang="zh-CN" altLang="en-US" sz="2400" b="1" dirty="0">
                <a:sym typeface="+mn-ea"/>
              </a:rPr>
              <a:t>过滤图</a:t>
            </a:r>
            <a:r>
              <a:rPr lang="en-US" altLang="zh-CN" sz="2400" b="1" dirty="0">
                <a:sym typeface="+mn-ea"/>
              </a:rPr>
              <a:t>(</a:t>
            </a:r>
            <a:r>
              <a:rPr lang="zh-CN" altLang="en-US" sz="2400" b="1" dirty="0">
                <a:sym typeface="+mn-ea"/>
              </a:rPr>
              <a:t>视频）</a:t>
            </a:r>
            <a:endParaRPr lang="zh-CN" altLang="en-US" sz="24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5835" y="5575935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充填结束阶段铸件平均料液温度处于液相线以上。冷料风险</a:t>
            </a:r>
            <a:r>
              <a:rPr lang="zh-CN" altLang="en-US" dirty="0"/>
              <a:t>较小。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0485" y="1030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44590" y="1157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wendu2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wenduguolv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718185" y="6080760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/>
              <a:t>此图展示的是在填充完成阶段，温度低于</a:t>
            </a:r>
            <a:r>
              <a:rPr lang="en-US" altLang="zh-CN" dirty="0"/>
              <a:t>600</a:t>
            </a:r>
            <a:r>
              <a:rPr lang="zh-CN" altLang="en-US" dirty="0"/>
              <a:t>摄氏度的料液位置，主要</a:t>
            </a:r>
            <a:r>
              <a:rPr lang="zh-CN" altLang="en-US" dirty="0"/>
              <a:t>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ym typeface="+mn-ea"/>
              </a:rPr>
              <a:t>温度</a:t>
            </a:r>
            <a:r>
              <a:rPr lang="en-US" altLang="zh-CN" sz="2400" b="1" dirty="0">
                <a:sym typeface="+mn-ea"/>
              </a:rPr>
              <a:t>&lt;600</a:t>
            </a:r>
            <a:r>
              <a:rPr lang="zh-CN" altLang="en-US" sz="2400" b="1" dirty="0">
                <a:sym typeface="+mn-ea"/>
              </a:rPr>
              <a:t>度</a:t>
            </a:r>
            <a:r>
              <a:rPr lang="en-US" altLang="zh-CN" sz="2400" b="1" dirty="0">
                <a:sym typeface="+mn-ea"/>
              </a:rPr>
              <a:t> </a:t>
            </a:r>
            <a:r>
              <a:rPr lang="zh-CN" altLang="en-US" sz="2400" b="1" dirty="0">
                <a:sym typeface="+mn-ea"/>
              </a:rPr>
              <a:t>过滤图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3637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r>
              <a:rPr lang="zh-CN" altLang="en-US" sz="2400" b="1" dirty="0">
                <a:sym typeface="+mn-ea"/>
              </a:rPr>
              <a:t>（视频）</a:t>
            </a:r>
            <a:endParaRPr lang="zh-CN" altLang="en-US" sz="2400" b="1" dirty="0"/>
          </a:p>
          <a:p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5221605" cy="312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989955" y="377190"/>
            <a:ext cx="5575300" cy="3228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825875" y="3837305"/>
            <a:ext cx="5303520" cy="2966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VID_JUANQI3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ym typeface="+mn-ea"/>
              </a:rPr>
              <a:t>卷气</a:t>
            </a:r>
            <a:r>
              <a:rPr lang="zh-CN" altLang="en-US" sz="2400" b="1" dirty="0">
                <a:sym typeface="+mn-ea"/>
              </a:rPr>
              <a:t>过滤图</a:t>
            </a:r>
            <a:r>
              <a:rPr lang="zh-CN" altLang="en-US" sz="2400" b="1" dirty="0">
                <a:sym typeface="+mn-ea"/>
              </a:rPr>
              <a:t>（视频）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5270" y="607060"/>
            <a:ext cx="11282045" cy="533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VID_juanqiguolv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41751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体积卷气</a:t>
            </a:r>
            <a:r>
              <a:rPr lang="zh-CN" altLang="en-US" sz="2800" b="1" dirty="0"/>
              <a:t>局部（</a:t>
            </a:r>
            <a:r>
              <a:rPr lang="zh-CN" altLang="en-US" sz="2800" b="1" dirty="0"/>
              <a:t>视频）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521970"/>
            <a:ext cx="5710555" cy="496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VID_tijijuanqizuo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29680" y="648970"/>
            <a:ext cx="5710555" cy="496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VID_tijijuanqiyou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3322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卷气数据（</a:t>
            </a:r>
            <a:r>
              <a:rPr lang="zh-CN" altLang="en-US" sz="2800" b="1" dirty="0"/>
              <a:t>视频）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6150" y="6252845"/>
            <a:ext cx="1004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大部分卷气能顺着渣包方向被收集，但是箭头所示部位，存在轻微卷气。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5730" y="81915"/>
            <a:ext cx="5132705" cy="2794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10275" y="81915"/>
            <a:ext cx="4979035" cy="297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181985" y="3056890"/>
            <a:ext cx="5132705" cy="2794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IMG_JUANQI3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ym typeface="+mn-ea"/>
              </a:rPr>
              <a:t>卷气</a:t>
            </a:r>
            <a:r>
              <a:rPr lang="zh-CN" altLang="en-US" sz="2400" b="1" dirty="0">
                <a:sym typeface="+mn-ea"/>
              </a:rPr>
              <a:t>过滤图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635" y="607060"/>
            <a:ext cx="10139045" cy="4904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IMG_juanqiguolv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65150" y="6252845"/>
            <a:ext cx="1004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此图展示卷气浓度大于</a:t>
            </a:r>
            <a:r>
              <a:rPr lang="en-US" altLang="zh-CN" dirty="0"/>
              <a:t>0.</a:t>
            </a:r>
            <a:r>
              <a:rPr lang="en-US" altLang="zh-CN" dirty="0"/>
              <a:t>xkg/m^3</a:t>
            </a:r>
            <a:r>
              <a:rPr lang="zh-CN" altLang="en-US" dirty="0"/>
              <a:t>的区域，所示位置，浓度较高，出现气泡气孔的概率</a:t>
            </a:r>
            <a:r>
              <a:rPr lang="zh-CN" altLang="en-US" dirty="0"/>
              <a:t>较大。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2057" y="6272124"/>
            <a:ext cx="90023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铸件内部总卷气质量约为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485" y="521970"/>
            <a:ext cx="5600065" cy="496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IMG_tijijuanqizuo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485" y="6261100"/>
            <a:ext cx="11931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局部铸件内部总卷气质量，左边约为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tijijuanqizuo</a:t>
            </a:r>
            <a:r>
              <a:rPr lang="zh-CN" altLang="en-US" sz="2400">
                <a:sym typeface="+mn-ea"/>
              </a:rPr>
              <a:t>。</a:t>
            </a:r>
            <a:r>
              <a:rPr lang="zh-CN" altLang="en-US" sz="2400" dirty="0">
                <a:sym typeface="+mn-ea"/>
              </a:rPr>
              <a:t>右边约为</a:t>
            </a:r>
            <a:r>
              <a:rPr lang="en-US" altLang="zh-CN" sz="2400" dirty="0">
                <a:sym typeface="+mn-ea"/>
              </a:rPr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</a:t>
            </a:r>
            <a:r>
              <a:rPr lang="en-US" altLang="zh-CN" sz="2400">
                <a:sym typeface="+mn-ea"/>
              </a:rPr>
              <a:t>you</a:t>
            </a:r>
            <a:endParaRPr lang="en-US" altLang="zh-CN" sz="24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0"/>
            <a:ext cx="3322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体积卷气</a:t>
            </a:r>
            <a:r>
              <a:rPr lang="en-US" altLang="zh-CN" sz="2800" b="1" dirty="0"/>
              <a:t>-</a:t>
            </a:r>
            <a:r>
              <a:rPr lang="zh-CN" altLang="en-US" sz="2800" b="1" dirty="0"/>
              <a:t>局部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275705" y="521970"/>
            <a:ext cx="5600065" cy="496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</a:t>
            </a:r>
            <a:r>
              <a:rPr lang="en-US" altLang="zh-CN"/>
              <a:t>you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卷气与气泡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VID_QIPAO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8845" y="6323330"/>
            <a:ext cx="10390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铸件内部分布着少量气泡</a:t>
            </a:r>
            <a:r>
              <a:rPr lang="en-US" altLang="zh-CN" sz="2400" dirty="0"/>
              <a:t>,</a:t>
            </a:r>
            <a:r>
              <a:rPr lang="zh-CN" altLang="en-US" sz="2400" dirty="0"/>
              <a:t>主要集中在卷气较多区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红色</a:t>
            </a:r>
            <a:r>
              <a:rPr lang="zh-CN" altLang="en-US" sz="2400" dirty="0">
                <a:solidFill>
                  <a:srgbClr val="FF0000"/>
                </a:solidFill>
              </a:rPr>
              <a:t>箭头标记部位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IMG_QIPAO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r>
              <a:rPr lang="zh-CN" altLang="en-US" sz="2000" b="1" dirty="0">
                <a:sym typeface="+mn-ea"/>
              </a:rPr>
              <a:t>（视频）</a:t>
            </a:r>
            <a:endParaRPr lang="zh-CN" altLang="en-US" sz="2000" b="1" dirty="0"/>
          </a:p>
          <a:p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5140960" cy="3288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850890" y="476250"/>
            <a:ext cx="6261100" cy="3075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VID_yanghuazha2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613660" y="3764915"/>
            <a:ext cx="5984240" cy="3039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VID_yanghuazha3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局部体积氧化物含量</a:t>
            </a:r>
            <a:r>
              <a:rPr lang="en-US" altLang="zh-CN" sz="2000" b="1" dirty="0"/>
              <a:t> (</a:t>
            </a:r>
            <a:r>
              <a:rPr lang="zh-CN" altLang="en-US" sz="2000" b="1" dirty="0"/>
              <a:t>视频）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6096000" y="476885"/>
            <a:ext cx="6015990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VID_tijiyanghuayou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0485" y="476885"/>
            <a:ext cx="5746750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VID_tijiyanghua</a:t>
            </a:r>
            <a:r>
              <a:rPr lang="en-US" altLang="zh-CN"/>
              <a:t>zuo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氧化渣过滤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视频）</a:t>
            </a:r>
            <a:r>
              <a:rPr lang="en-US" altLang="zh-CN" sz="2000" b="1" dirty="0"/>
              <a:t> 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VID_yanghuazhaguolv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氧化物数据（</a:t>
            </a:r>
            <a:r>
              <a:rPr lang="zh-CN" altLang="en-US" sz="2000" b="1" dirty="0"/>
              <a:t>视频）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tijiyanghua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542" y="6371324"/>
            <a:ext cx="1114147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铸件内氧化物主要集中在</a:t>
            </a:r>
            <a:r>
              <a:rPr lang="en-US" altLang="zh-CN" sz="2000" dirty="0"/>
              <a:t>   </a:t>
            </a:r>
            <a:r>
              <a:rPr lang="zh-CN" altLang="en-US" sz="2000" dirty="0"/>
              <a:t>。建议加大对应部位的渣包</a:t>
            </a:r>
            <a:r>
              <a:rPr lang="zh-CN" altLang="en-US" sz="2000" dirty="0"/>
              <a:t>体积。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152400" y="144780"/>
            <a:ext cx="5599430" cy="2723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375400" y="0"/>
            <a:ext cx="5527040" cy="2868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085465" y="3085465"/>
            <a:ext cx="5167630" cy="3068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IMG_yanghuazha3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铸件内氧化物含量约为</a:t>
            </a:r>
            <a:r>
              <a:rPr lang="en-US" altLang="zh-CN" sz="2400" dirty="0"/>
              <a:t> VAL_</a:t>
            </a:r>
            <a:r>
              <a:rPr lang="en-US" altLang="zh-CN" sz="2400">
                <a:sym typeface="+mn-ea"/>
              </a:rPr>
              <a:t>tijiyanghua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36525"/>
            <a:ext cx="12041505" cy="5354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tijiyanghua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局部体积氧化物</a:t>
            </a:r>
            <a:r>
              <a:rPr lang="zh-CN" altLang="en-US" sz="2000" b="1" dirty="0"/>
              <a:t>含量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6311265" y="476885"/>
            <a:ext cx="580072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IMG_tijiyanghuayou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485" y="6261100"/>
            <a:ext cx="11931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局部铸件内部总卷气质量，左边约为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tijiyanghuazuo </a:t>
            </a:r>
            <a:r>
              <a:rPr lang="zh-CN" altLang="en-US" sz="2400" dirty="0"/>
              <a:t>。</a:t>
            </a:r>
            <a:r>
              <a:rPr lang="zh-CN" altLang="en-US" sz="2400" dirty="0">
                <a:sym typeface="+mn-ea"/>
              </a:rPr>
              <a:t>右边约为</a:t>
            </a:r>
            <a:r>
              <a:rPr lang="en-US" altLang="zh-CN" sz="2400" dirty="0">
                <a:sym typeface="+mn-ea"/>
              </a:rPr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tijiyanghua</a:t>
            </a:r>
            <a:r>
              <a:rPr lang="en-US" altLang="zh-CN" sz="2400">
                <a:sym typeface="+mn-ea"/>
              </a:rPr>
              <a:t>you</a:t>
            </a:r>
            <a:endParaRPr lang="en-US" altLang="zh-CN" sz="24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485" y="476885"/>
            <a:ext cx="547433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IMG_tijiyanghua</a:t>
            </a:r>
            <a:r>
              <a:rPr lang="en-US" altLang="zh-CN"/>
              <a:t>zuo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氧化渣</a:t>
            </a:r>
            <a:r>
              <a:rPr lang="zh-CN" altLang="en-US" sz="2000" b="1" dirty="0"/>
              <a:t>浓度过滤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IMG_yanghuazhaguolv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2207" y="6164314"/>
            <a:ext cx="1114147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ym typeface="+mn-ea"/>
              </a:rPr>
              <a:t>此图展示的是氧化物浓度超过</a:t>
            </a:r>
            <a:r>
              <a:rPr lang="en-US" altLang="zh-CN" sz="2000" dirty="0">
                <a:sym typeface="+mn-ea"/>
              </a:rPr>
              <a:t>800kg/m^3</a:t>
            </a:r>
            <a:r>
              <a:rPr lang="zh-CN" altLang="en-US" sz="2000" dirty="0">
                <a:sym typeface="+mn-ea"/>
              </a:rPr>
              <a:t>的局部</a:t>
            </a:r>
            <a:r>
              <a:rPr lang="zh-CN" altLang="en-US" sz="2000" dirty="0">
                <a:sym typeface="+mn-ea"/>
              </a:rPr>
              <a:t>位置。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VID_liaoliuzhuizong1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VID_liaoliuzhuizong2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0" y="5873115"/>
            <a:ext cx="9474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料流填充比较顺畅，各个浇口之间干扰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较小。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" y="1379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IMG_liaoliuzhuizong1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362065" y="1506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IMG_liaoliuzhuizong2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凝固与缩孔（缩孔率和缩孔</a:t>
            </a:r>
            <a:r>
              <a:rPr lang="zh-CN" altLang="en-US" sz="2000" b="1" dirty="0"/>
              <a:t>体积）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52959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52959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VID_suokongtiji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7950" y="6028055"/>
            <a:ext cx="11981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图示部位壁厚较厚，特征为两槽位之间与凸台，凝固较慢，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缩孔开始形成时间约为</a:t>
            </a:r>
            <a:r>
              <a:rPr lang="en-US" altLang="zh-CN" sz="2400" dirty="0">
                <a:solidFill>
                  <a:srgbClr val="FF0000"/>
                </a:solidFill>
              </a:rPr>
              <a:t>1.02S</a:t>
            </a:r>
            <a:r>
              <a:rPr lang="zh-CN" altLang="en-US" sz="2400" dirty="0">
                <a:solidFill>
                  <a:srgbClr val="FF0000"/>
                </a:solidFill>
              </a:rPr>
              <a:t>，浇口开始冷却时间</a:t>
            </a:r>
            <a:r>
              <a:rPr lang="zh-CN" altLang="en-US" sz="2400" dirty="0">
                <a:solidFill>
                  <a:srgbClr val="FF0000"/>
                </a:solidFill>
              </a:rPr>
              <a:t>约为</a:t>
            </a:r>
            <a:r>
              <a:rPr lang="en-US" altLang="zh-CN" sz="2400" dirty="0">
                <a:solidFill>
                  <a:srgbClr val="FF0000"/>
                </a:solidFill>
              </a:rPr>
              <a:t>1.18s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/>
              <a:t>为缩孔主要聚集地，可加强相关区域的</a:t>
            </a:r>
            <a:r>
              <a:rPr lang="zh-CN" altLang="en-US" sz="2400" dirty="0"/>
              <a:t>冷却。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223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07770" y="6203315"/>
            <a:ext cx="10327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铸件内部缩孔率约为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suokonglv </a:t>
            </a:r>
            <a:r>
              <a:rPr lang="zh-CN" altLang="en-US" sz="2400" dirty="0"/>
              <a:t>，总缩孔体积约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suokongtiji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39878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39878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IMG_suokongtiji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热</a:t>
            </a:r>
            <a:r>
              <a:rPr lang="zh-CN" altLang="en-US" sz="2400" b="1" dirty="0"/>
              <a:t>节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VID_REJIE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热结代表的是铸件该位置的凝固时间长短，越慢凝固的区域在后续形成缩孔的可能性越大。建议持压时间大于</a:t>
            </a:r>
            <a:r>
              <a:rPr lang="en-US" altLang="zh-CN" sz="2400" dirty="0"/>
              <a:t>5s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6129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IMG_REJIE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气压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727075"/>
            <a:ext cx="5602605" cy="522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77585" y="854075"/>
            <a:ext cx="5602605" cy="522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VID_QIYA2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气压越大，出现气孔等概率越高，如上图箭头所示部位气压比较大，出现气孔的风险高，建议局部调整渣包，或者加镶件、镶针、顶针等辅助排气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38150"/>
            <a:ext cx="583946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36945" y="565150"/>
            <a:ext cx="583946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IMG_QIYA2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9206" y="630370"/>
            <a:ext cx="166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结论：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5826" y="1614059"/>
            <a:ext cx="10955044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大部分卷气能顺着渣包方向被收集，但是</a:t>
            </a:r>
            <a:r>
              <a:rPr lang="zh-CN" altLang="en-US" sz="3200" dirty="0">
                <a:sym typeface="+mn-ea"/>
              </a:rPr>
              <a:t>部分部位存在轻微卷气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铸件内部缩孔率约为</a:t>
            </a:r>
            <a:r>
              <a:rPr lang="en-US" altLang="zh-CN" sz="3200" dirty="0">
                <a:sym typeface="+mn-ea"/>
              </a:rPr>
              <a:t>VAL_</a:t>
            </a:r>
            <a:r>
              <a:rPr lang="en-US" altLang="zh-CN" sz="3200">
                <a:sym typeface="+mn-ea"/>
              </a:rPr>
              <a:t>suokonglv </a:t>
            </a:r>
            <a:r>
              <a:rPr lang="zh-CN" altLang="en-US" sz="3200" dirty="0">
                <a:sym typeface="+mn-ea"/>
              </a:rPr>
              <a:t>，总缩孔体积约</a:t>
            </a:r>
            <a:r>
              <a:rPr lang="en-US" altLang="zh-CN" sz="3200" dirty="0">
                <a:sym typeface="+mn-ea"/>
              </a:rPr>
              <a:t> </a:t>
            </a:r>
            <a:r>
              <a:rPr lang="en-US" altLang="zh-CN" sz="3200" dirty="0">
                <a:sym typeface="+mn-ea"/>
              </a:rPr>
              <a:t>VAL_</a:t>
            </a:r>
            <a:r>
              <a:rPr lang="en-US" altLang="zh-CN" sz="3200">
                <a:sym typeface="+mn-ea"/>
              </a:rPr>
              <a:t>suokongtiji </a:t>
            </a:r>
            <a:r>
              <a:rPr lang="zh-CN" altLang="en-US" sz="3200" dirty="0">
                <a:sym typeface="+mn-ea"/>
              </a:rPr>
              <a:t>。缩孔主要集中在凝固较慢区域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3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铸件内边缘氧化物含量较高。</a:t>
            </a:r>
            <a:endParaRPr lang="zh-CN" altLang="en-US" sz="32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1770</Words>
  <Application>WPS 演示</Application>
  <PresentationFormat>宽屏</PresentationFormat>
  <Paragraphs>277</Paragraphs>
  <Slides>38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Arial</vt:lpstr>
      <vt:lpstr>宋体</vt:lpstr>
      <vt:lpstr>Wingdings</vt:lpstr>
      <vt:lpstr>Times New Roman</vt:lpstr>
      <vt:lpstr>微软雅黑</vt:lpstr>
      <vt:lpstr>Calibri</vt:lpstr>
      <vt:lpstr>Arial Unicode MS</vt:lpstr>
      <vt:lpstr>WPS</vt:lpstr>
      <vt:lpstr>name-模流分析报告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   </cp:lastModifiedBy>
  <cp:revision>364</cp:revision>
  <dcterms:created xsi:type="dcterms:W3CDTF">2023-08-09T12:44:00Z</dcterms:created>
  <dcterms:modified xsi:type="dcterms:W3CDTF">2026-04-06T09:09:57Z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48E4DDF4A3CC46BF9DA6514C99E0020A_13</vt:lpwstr>
  </property>
</Properties>
</file>