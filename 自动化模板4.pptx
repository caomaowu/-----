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74" r:id="rId3"/>
    <p:sldId id="275" r:id="rId4"/>
    <p:sldId id="286" r:id="rId5"/>
    <p:sldId id="256" r:id="rId6"/>
    <p:sldId id="285" r:id="rId7"/>
    <p:sldId id="258" r:id="rId8"/>
    <p:sldId id="298" r:id="rId9"/>
    <p:sldId id="279" r:id="rId10"/>
    <p:sldId id="289" r:id="rId11"/>
    <p:sldId id="293" r:id="rId12"/>
    <p:sldId id="294" r:id="rId13"/>
    <p:sldId id="263" r:id="rId14"/>
    <p:sldId id="299" r:id="rId15"/>
    <p:sldId id="311" r:id="rId16"/>
    <p:sldId id="280" r:id="rId17"/>
    <p:sldId id="282" r:id="rId18"/>
    <p:sldId id="284" r:id="rId19"/>
    <p:sldId id="295" r:id="rId20"/>
    <p:sldId id="300" r:id="rId21"/>
    <p:sldId id="296" r:id="rId22"/>
    <p:sldId id="302" r:id="rId23"/>
    <p:sldId id="303" r:id="rId24"/>
    <p:sldId id="304" r:id="rId25"/>
    <p:sldId id="312" r:id="rId26"/>
    <p:sldId id="313" r:id="rId27"/>
    <p:sldId id="307" r:id="rId2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86" d="100"/>
          <a:sy n="86" d="100"/>
        </p:scale>
        <p:origin x="514" y="48"/>
      </p:cViewPr>
      <p:guideLst>
        <p:guide orient="horz" pos="2160"/>
        <p:guide pos="383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1" Type="http://schemas.openxmlformats.org/officeDocument/2006/relationships/tableStyles" Target="tableStyles.xml"/><Relationship Id="rId30" Type="http://schemas.openxmlformats.org/officeDocument/2006/relationships/viewProps" Target="viewProps.xml"/><Relationship Id="rId3" Type="http://schemas.openxmlformats.org/officeDocument/2006/relationships/slide" Target="slides/slide1.xml"/><Relationship Id="rId29" Type="http://schemas.openxmlformats.org/officeDocument/2006/relationships/presProps" Target="presProps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04875" y="1069975"/>
            <a:ext cx="10266045" cy="1932305"/>
          </a:xfrm>
        </p:spPr>
        <p:txBody>
          <a:bodyPr>
            <a:norm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19991560</a:t>
            </a:r>
            <a:r>
              <a: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侧板</a:t>
            </a:r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zh-CN" altLang="en-US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模流分析报告</a:t>
            </a:r>
            <a:endParaRPr lang="zh-CN" altLang="en-US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729778"/>
            <a:ext cx="9144000" cy="1655762"/>
          </a:xfrm>
        </p:spPr>
        <p:txBody>
          <a:bodyPr/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工程技术中心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翁叶浚、吴梓健、申芳华、张玉勋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2026.01.03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文本框 26"/>
          <p:cNvSpPr txBox="1"/>
          <p:nvPr/>
        </p:nvSpPr>
        <p:spPr>
          <a:xfrm>
            <a:off x="4394503" y="213014"/>
            <a:ext cx="4163626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仿真工艺参数</a:t>
            </a:r>
            <a:endParaRPr lang="zh-CN" altLang="en-US" dirty="0"/>
          </a:p>
        </p:txBody>
      </p:sp>
      <p:sp>
        <p:nvSpPr>
          <p:cNvPr id="2" name="文本框 1"/>
          <p:cNvSpPr txBox="1"/>
          <p:nvPr/>
        </p:nvSpPr>
        <p:spPr>
          <a:xfrm>
            <a:off x="4014773" y="5961034"/>
            <a:ext cx="4163626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工艺抽真空与</a:t>
            </a:r>
            <a:r>
              <a:rPr lang="zh-CN" altLang="en-US" dirty="0"/>
              <a:t>点冷</a:t>
            </a:r>
            <a:endParaRPr lang="zh-CN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271" y="264"/>
            <a:ext cx="3120396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/>
              <a:t>浇排系统</a:t>
            </a:r>
            <a:r>
              <a:rPr lang="zh-CN" altLang="en-US" sz="3200" b="1" dirty="0"/>
              <a:t>三维图</a:t>
            </a:r>
            <a:endParaRPr lang="zh-CN" altLang="en-US" sz="32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271" y="264"/>
            <a:ext cx="3120396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温度演变图</a:t>
            </a:r>
            <a:endParaRPr lang="zh-CN" altLang="en-US" sz="2400" b="1" dirty="0"/>
          </a:p>
        </p:txBody>
      </p:sp>
      <p:sp>
        <p:nvSpPr>
          <p:cNvPr id="3" name="文本框 2"/>
          <p:cNvSpPr txBox="1"/>
          <p:nvPr/>
        </p:nvSpPr>
        <p:spPr>
          <a:xfrm>
            <a:off x="70485" y="476885"/>
            <a:ext cx="12041505" cy="5364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VID_WENDU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337310" y="6220460"/>
            <a:ext cx="92583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dirty="0"/>
              <a:t>充填结束阶段铸件平均料液温度处于液相线以上。冷料风险</a:t>
            </a:r>
            <a:r>
              <a:rPr lang="zh-CN" altLang="en-US" dirty="0"/>
              <a:t>较小。</a:t>
            </a:r>
            <a:endParaRPr lang="zh-CN" altLang="en-US" dirty="0"/>
          </a:p>
        </p:txBody>
      </p:sp>
      <p:sp>
        <p:nvSpPr>
          <p:cNvPr id="3" name="文本框 2"/>
          <p:cNvSpPr txBox="1"/>
          <p:nvPr/>
        </p:nvSpPr>
        <p:spPr>
          <a:xfrm>
            <a:off x="70485" y="189865"/>
            <a:ext cx="12041505" cy="55797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IMG_WENDU</a:t>
            </a:r>
            <a:endParaRPr lang="en-US" altLang="zh-C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0" y="0"/>
            <a:ext cx="236146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卷气演变图</a:t>
            </a:r>
            <a:endParaRPr lang="zh-CN" altLang="en-US" sz="24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76885"/>
            <a:ext cx="12041505" cy="5014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VID_JUANQI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0" y="0"/>
            <a:ext cx="236146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/>
              <a:t>卷气</a:t>
            </a:r>
            <a:r>
              <a:rPr lang="zh-CN" altLang="en-US" sz="2800" b="1" dirty="0"/>
              <a:t>数据</a:t>
            </a:r>
            <a:endParaRPr lang="zh-CN" altLang="en-US" sz="2800" b="1" dirty="0"/>
          </a:p>
        </p:txBody>
      </p:sp>
      <p:sp>
        <p:nvSpPr>
          <p:cNvPr id="2" name="文本框 1"/>
          <p:cNvSpPr txBox="1"/>
          <p:nvPr/>
        </p:nvSpPr>
        <p:spPr>
          <a:xfrm>
            <a:off x="70485" y="476885"/>
            <a:ext cx="12041505" cy="5014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VID_TIJIJUANQI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946150" y="6028055"/>
            <a:ext cx="1004316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2400" dirty="0"/>
              <a:t>大部分卷气能顺着渣包方向被收集，但是箭头所示部位，存在轻微卷</a:t>
            </a:r>
            <a:r>
              <a:rPr lang="zh-CN" altLang="en-US" sz="2400" dirty="0"/>
              <a:t>气。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64135"/>
            <a:ext cx="12041505" cy="54273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VID_JUANQI</a:t>
            </a:r>
            <a:endParaRPr lang="en-US" altLang="zh-C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222057" y="6272124"/>
            <a:ext cx="9002389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2400" dirty="0"/>
              <a:t>铸件内部总卷气质量约为</a:t>
            </a:r>
            <a:r>
              <a:rPr lang="en-US" altLang="zh-CN" sz="2400" dirty="0"/>
              <a:t>0.06g</a:t>
            </a:r>
            <a:r>
              <a:rPr lang="zh-CN" altLang="en-US" sz="2400" dirty="0"/>
              <a:t>。</a:t>
            </a:r>
            <a:endParaRPr lang="en-US" altLang="zh-CN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109220"/>
            <a:ext cx="12041505" cy="53822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IMG_TIJIJUANQI</a:t>
            </a:r>
            <a:endParaRPr lang="en-US" altLang="zh-C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0" y="0"/>
            <a:ext cx="236146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卷气与气泡</a:t>
            </a:r>
            <a:endParaRPr lang="zh-CN" altLang="en-US" sz="20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76885"/>
            <a:ext cx="12041505" cy="5014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VID_QIPAO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918845" y="6323330"/>
            <a:ext cx="103905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2400" dirty="0"/>
              <a:t>铸件内部分布着少量气泡</a:t>
            </a:r>
            <a:r>
              <a:rPr lang="en-US" altLang="zh-CN" sz="2400" dirty="0"/>
              <a:t>,</a:t>
            </a:r>
            <a:r>
              <a:rPr lang="zh-CN" altLang="en-US" sz="2400" dirty="0"/>
              <a:t>主要集中在卷气</a:t>
            </a:r>
            <a:r>
              <a:rPr lang="zh-CN" altLang="en-US" sz="2400" dirty="0"/>
              <a:t>较多区</a:t>
            </a:r>
            <a:r>
              <a:rPr lang="en-US" altLang="zh-CN" sz="2400" dirty="0">
                <a:solidFill>
                  <a:srgbClr val="FF0000"/>
                </a:solidFill>
              </a:rPr>
              <a:t>(</a:t>
            </a:r>
            <a:r>
              <a:rPr lang="zh-CN" altLang="en-US" sz="2400" dirty="0">
                <a:solidFill>
                  <a:srgbClr val="FF0000"/>
                </a:solidFill>
              </a:rPr>
              <a:t>红色</a:t>
            </a:r>
            <a:r>
              <a:rPr lang="zh-CN" altLang="en-US" sz="2400" dirty="0">
                <a:solidFill>
                  <a:srgbClr val="FF0000"/>
                </a:solidFill>
              </a:rPr>
              <a:t>方框标记部位</a:t>
            </a:r>
            <a:r>
              <a:rPr lang="en-US" altLang="zh-CN" sz="2400" dirty="0">
                <a:solidFill>
                  <a:srgbClr val="FF0000"/>
                </a:solidFill>
              </a:rPr>
              <a:t>)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2" name="文本框 1"/>
          <p:cNvSpPr txBox="1"/>
          <p:nvPr/>
        </p:nvSpPr>
        <p:spPr>
          <a:xfrm>
            <a:off x="70485" y="109220"/>
            <a:ext cx="12041505" cy="53822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IMG_QIPAO</a:t>
            </a:r>
            <a:endParaRPr lang="en-US" altLang="zh-C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-160" y="6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氧化物追踪云图</a:t>
            </a:r>
            <a:endParaRPr lang="zh-CN" altLang="en-US" sz="20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76885"/>
            <a:ext cx="12041505" cy="5014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VID_yanghuazha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-160" y="6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氧化物数据</a:t>
            </a:r>
            <a:endParaRPr lang="zh-CN" altLang="en-US" sz="20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76885"/>
            <a:ext cx="12041505" cy="5014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</a:t>
            </a:r>
            <a:r>
              <a:rPr lang="en-US" altLang="zh-CN"/>
              <a:t>tijiyanghuazha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79187" y="5957939"/>
            <a:ext cx="11141476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铸件内氧化物含量较高，渣包体积太小，导致熔渣无法充分排出，</a:t>
            </a:r>
            <a:r>
              <a:rPr lang="zh-CN" altLang="en-US" sz="2400" dirty="0"/>
              <a:t>氧化夹杂风险显著升高。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0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IMG_yanghuazha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79187" y="5957939"/>
            <a:ext cx="11141476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铸件内氧化物含量较高，约为</a:t>
            </a:r>
            <a:r>
              <a:rPr lang="en-US" altLang="zh-CN" sz="2400" dirty="0"/>
              <a:t>500g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136525"/>
            <a:ext cx="12041505" cy="53549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</a:t>
            </a:r>
            <a:r>
              <a:rPr lang="en-US" altLang="zh-CN"/>
              <a:t>tijiyanghuazha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-87" y="5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料流追踪</a:t>
            </a:r>
            <a:endParaRPr lang="zh-CN" altLang="en-US" sz="2000" b="1" dirty="0"/>
          </a:p>
        </p:txBody>
      </p:sp>
      <p:sp>
        <p:nvSpPr>
          <p:cNvPr id="2" name="文本框 1"/>
          <p:cNvSpPr txBox="1"/>
          <p:nvPr/>
        </p:nvSpPr>
        <p:spPr>
          <a:xfrm>
            <a:off x="70485" y="340995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VID_liaoliuzhuizong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079500" y="5873115"/>
            <a:ext cx="947483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料流填充比较顺畅，各个浇口之间干扰</a:t>
            </a: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较小。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0485" y="187960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IMG_liaoliuzhuizong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凝固与缩孔</a:t>
            </a:r>
            <a:endParaRPr lang="zh-CN" altLang="en-US" sz="20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340995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VID_SUOKONG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凝固与缩孔（缩孔率和缩孔</a:t>
            </a:r>
            <a:r>
              <a:rPr lang="zh-CN" altLang="en-US" sz="2000" b="1" dirty="0"/>
              <a:t>体积）</a:t>
            </a:r>
            <a:endParaRPr lang="zh-CN" altLang="en-US" sz="20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0" y="529590"/>
            <a:ext cx="5922010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VID_suokonglv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6306185" y="529590"/>
            <a:ext cx="5509260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VID_suokongtiji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107950" y="6028055"/>
            <a:ext cx="1198181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图示部位壁厚较厚，特征为两槽位之间与凸台，凝固较慢，</a:t>
            </a:r>
            <a:r>
              <a:rPr lang="en-US" altLang="zh-CN" sz="2400" dirty="0">
                <a:solidFill>
                  <a:srgbClr val="FF0000"/>
                </a:solidFill>
              </a:rPr>
              <a:t>(</a:t>
            </a:r>
            <a:r>
              <a:rPr lang="zh-CN" altLang="en-US" sz="2400" dirty="0">
                <a:solidFill>
                  <a:srgbClr val="FF0000"/>
                </a:solidFill>
              </a:rPr>
              <a:t>缩孔开始形成时间约为</a:t>
            </a:r>
            <a:r>
              <a:rPr lang="en-US" altLang="zh-CN" sz="2400" dirty="0">
                <a:solidFill>
                  <a:srgbClr val="FF0000"/>
                </a:solidFill>
              </a:rPr>
              <a:t>1.02S</a:t>
            </a:r>
            <a:r>
              <a:rPr lang="zh-CN" altLang="en-US" sz="2400" dirty="0">
                <a:solidFill>
                  <a:srgbClr val="FF0000"/>
                </a:solidFill>
              </a:rPr>
              <a:t>，浇口开始冷却时间</a:t>
            </a:r>
            <a:r>
              <a:rPr lang="zh-CN" altLang="en-US" sz="2400" dirty="0">
                <a:solidFill>
                  <a:srgbClr val="FF0000"/>
                </a:solidFill>
              </a:rPr>
              <a:t>约为</a:t>
            </a:r>
            <a:r>
              <a:rPr lang="en-US" altLang="zh-CN" sz="2400" dirty="0">
                <a:solidFill>
                  <a:srgbClr val="FF0000"/>
                </a:solidFill>
              </a:rPr>
              <a:t>1.18s</a:t>
            </a:r>
            <a:r>
              <a:rPr lang="zh-CN" altLang="en-US" sz="2400" dirty="0">
                <a:solidFill>
                  <a:srgbClr val="FF0000"/>
                </a:solidFill>
              </a:rPr>
              <a:t>）</a:t>
            </a:r>
            <a:r>
              <a:rPr lang="en-US" altLang="zh-CN" sz="2400" dirty="0">
                <a:solidFill>
                  <a:srgbClr val="FF0000"/>
                </a:solidFill>
              </a:rPr>
              <a:t>,</a:t>
            </a:r>
            <a:r>
              <a:rPr lang="zh-CN" altLang="en-US" sz="2400" dirty="0"/>
              <a:t>为缩孔主要聚集地，可加强相关区域的</a:t>
            </a:r>
            <a:r>
              <a:rPr lang="zh-CN" altLang="en-US" sz="2400" dirty="0"/>
              <a:t>冷却。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62230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IMG_SUOKONG</a:t>
            </a:r>
            <a:endParaRPr lang="en-US" altLang="zh-CN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1645920" y="6203315"/>
            <a:ext cx="73583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铸件内部缩孔率约为</a:t>
            </a:r>
            <a:r>
              <a:rPr lang="en-US" altLang="zh-CN" sz="2400" dirty="0"/>
              <a:t>0.55%</a:t>
            </a:r>
            <a:r>
              <a:rPr lang="zh-CN" altLang="en-US" sz="2400" dirty="0"/>
              <a:t>，总缩孔体积约</a:t>
            </a:r>
            <a:r>
              <a:rPr lang="en-US" altLang="zh-CN" sz="2400" dirty="0"/>
              <a:t>0.75cm³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0" y="398780"/>
            <a:ext cx="5922010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IMG_suokonglv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6306185" y="398780"/>
            <a:ext cx="5509260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IMG_suokongtiji</a:t>
            </a:r>
            <a:endParaRPr lang="en-US" altLang="zh-CN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热</a:t>
            </a:r>
            <a:r>
              <a:rPr lang="zh-CN" altLang="en-US" sz="2400" b="1" dirty="0"/>
              <a:t>节</a:t>
            </a:r>
            <a:endParaRPr lang="zh-CN" altLang="en-US" sz="24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340995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VID_REJIE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00025" y="5934075"/>
            <a:ext cx="1138936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热结代表的是铸件该位置的凝固时间长短，越慢凝固的区域在后续形成缩孔的可能性越大。建议持压时间大于</a:t>
            </a:r>
            <a:r>
              <a:rPr lang="en-US" altLang="zh-CN" sz="2400" dirty="0"/>
              <a:t>5s 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161290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IMG_REJIE</a:t>
            </a:r>
            <a:endParaRPr lang="en-US" altLang="zh-CN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-87" y="56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气压</a:t>
            </a:r>
            <a:endParaRPr lang="zh-CN" altLang="en-US" sz="2400" b="1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460375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VID_QIYA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200025" y="5934075"/>
            <a:ext cx="1138936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>
                <a:sym typeface="+mn-ea"/>
              </a:rPr>
              <a:t>气压越大，出现气孔等概率越高，如上图箭头所示部位气压比较大，出现气孔的风险高，建议局部调整渣包，或者加镶件、镶针、顶针等辅助排气</a:t>
            </a:r>
            <a:r>
              <a:rPr lang="zh-CN" altLang="en-US" sz="2400" dirty="0"/>
              <a:t>。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70485" y="197485"/>
            <a:ext cx="12041505" cy="54914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IMG_QIYA</a:t>
            </a:r>
            <a:endParaRPr lang="en-US" altLang="zh-CN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559206" y="630370"/>
            <a:ext cx="16602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 dirty="0">
                <a:solidFill>
                  <a:srgbClr val="FF0000"/>
                </a:solidFill>
              </a:rPr>
              <a:t>结论：</a:t>
            </a:r>
            <a:endParaRPr lang="zh-CN" altLang="en-US" sz="3600" b="1" dirty="0">
              <a:solidFill>
                <a:srgbClr val="FF0000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65826" y="1614059"/>
            <a:ext cx="10955044" cy="25533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zh-CN" sz="3200" dirty="0">
                <a:sym typeface="+mn-ea"/>
              </a:rPr>
              <a:t>1</a:t>
            </a:r>
            <a:r>
              <a:rPr lang="zh-CN" altLang="en-US" sz="3200" dirty="0">
                <a:sym typeface="+mn-ea"/>
              </a:rPr>
              <a:t>、</a:t>
            </a:r>
            <a:r>
              <a:rPr lang="zh-CN" altLang="en-US" sz="3200" dirty="0">
                <a:sym typeface="+mn-ea"/>
              </a:rPr>
              <a:t>大部分卷气能顺着渣包方向被收集，但是</a:t>
            </a:r>
            <a:r>
              <a:rPr lang="zh-CN" altLang="en-US" sz="3200" dirty="0">
                <a:sym typeface="+mn-ea"/>
              </a:rPr>
              <a:t>部分部位存在轻微卷气</a:t>
            </a:r>
            <a:endParaRPr lang="zh-CN" altLang="en-US" sz="3200" dirty="0">
              <a:sym typeface="+mn-ea"/>
            </a:endParaRPr>
          </a:p>
          <a:p>
            <a:pPr algn="just"/>
            <a:r>
              <a:rPr lang="en-US" altLang="zh-CN" sz="3200" dirty="0">
                <a:sym typeface="+mn-ea"/>
              </a:rPr>
              <a:t>2</a:t>
            </a:r>
            <a:r>
              <a:rPr lang="zh-CN" altLang="en-US" sz="3200" dirty="0">
                <a:sym typeface="+mn-ea"/>
              </a:rPr>
              <a:t>、</a:t>
            </a:r>
            <a:r>
              <a:rPr lang="zh-CN" altLang="en-US" sz="3200" dirty="0">
                <a:sym typeface="+mn-ea"/>
              </a:rPr>
              <a:t>铸件内部缩孔率约为</a:t>
            </a:r>
            <a:r>
              <a:rPr lang="en-US" altLang="zh-CN" sz="3200" dirty="0">
                <a:sym typeface="+mn-ea"/>
              </a:rPr>
              <a:t>0.55%</a:t>
            </a:r>
            <a:r>
              <a:rPr lang="zh-CN" altLang="en-US" sz="3200" dirty="0">
                <a:sym typeface="+mn-ea"/>
              </a:rPr>
              <a:t>，总缩孔体积约</a:t>
            </a:r>
            <a:r>
              <a:rPr lang="en-US" altLang="zh-CN" sz="3200" dirty="0">
                <a:sym typeface="+mn-ea"/>
              </a:rPr>
              <a:t>25cm³</a:t>
            </a:r>
            <a:r>
              <a:rPr lang="zh-CN" altLang="en-US" sz="3200" dirty="0">
                <a:sym typeface="+mn-ea"/>
              </a:rPr>
              <a:t>。缩孔主要集中在凝固较慢区域</a:t>
            </a:r>
            <a:r>
              <a:rPr lang="zh-CN" altLang="en-US" sz="3200" dirty="0">
                <a:sym typeface="+mn-ea"/>
              </a:rPr>
              <a:t>。</a:t>
            </a:r>
            <a:endParaRPr lang="zh-CN" altLang="en-US" sz="3200" dirty="0">
              <a:sym typeface="+mn-ea"/>
            </a:endParaRPr>
          </a:p>
          <a:p>
            <a:pPr algn="just"/>
            <a:r>
              <a:rPr lang="en-US" altLang="zh-CN" sz="3200" dirty="0">
                <a:sym typeface="+mn-ea"/>
              </a:rPr>
              <a:t>3</a:t>
            </a:r>
            <a:r>
              <a:rPr lang="zh-CN" altLang="en-US" sz="3200" dirty="0">
                <a:sym typeface="+mn-ea"/>
              </a:rPr>
              <a:t>、</a:t>
            </a:r>
            <a:r>
              <a:rPr lang="zh-CN" altLang="en-US" sz="3200" dirty="0">
                <a:sym typeface="+mn-ea"/>
              </a:rPr>
              <a:t>铸件内边缘氧化物含量较高。</a:t>
            </a:r>
            <a:endParaRPr lang="zh-CN" altLang="en-US" sz="3200" dirty="0">
              <a:sym typeface="+mn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lang="zh-CN" altLang="en-US"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932</Words>
  <Application>WPS 演示</Application>
  <PresentationFormat>宽屏</PresentationFormat>
  <Paragraphs>110</Paragraphs>
  <Slides>26</Slides>
  <Notes>0</Notes>
  <HiddenSlides>0</HiddenSlides>
  <MMClips>5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34" baseType="lpstr">
      <vt:lpstr>Arial</vt:lpstr>
      <vt:lpstr>宋体</vt:lpstr>
      <vt:lpstr>Wingdings</vt:lpstr>
      <vt:lpstr>Times New Roman</vt:lpstr>
      <vt:lpstr>微软雅黑</vt:lpstr>
      <vt:lpstr>Arial Unicode MS</vt:lpstr>
      <vt:lpstr>Calibri</vt:lpstr>
      <vt:lpstr>WPS</vt:lpstr>
      <vt:lpstr>19991560侧板-模流分析报告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Administrator</dc:creator>
  <cp:lastModifiedBy>   </cp:lastModifiedBy>
  <cp:revision>298</cp:revision>
  <dcterms:created xsi:type="dcterms:W3CDTF">2023-08-09T12:44:00Z</dcterms:created>
  <dcterms:modified xsi:type="dcterms:W3CDTF">2026-01-31T07:17:03Z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48E4DDF4A3CC46BF9DA6514C99E0020A_13</vt:lpwstr>
  </property>
</Properties>
</file>