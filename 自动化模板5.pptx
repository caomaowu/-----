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4" r:id="rId3"/>
    <p:sldId id="275" r:id="rId4"/>
    <p:sldId id="286" r:id="rId5"/>
    <p:sldId id="256" r:id="rId6"/>
    <p:sldId id="314" r:id="rId7"/>
    <p:sldId id="285" r:id="rId8"/>
    <p:sldId id="258" r:id="rId9"/>
    <p:sldId id="315" r:id="rId10"/>
    <p:sldId id="298" r:id="rId11"/>
    <p:sldId id="279" r:id="rId12"/>
    <p:sldId id="289" r:id="rId13"/>
    <p:sldId id="293" r:id="rId14"/>
    <p:sldId id="294" r:id="rId15"/>
    <p:sldId id="263" r:id="rId16"/>
    <p:sldId id="316" r:id="rId17"/>
    <p:sldId id="299" r:id="rId18"/>
    <p:sldId id="311" r:id="rId19"/>
    <p:sldId id="280" r:id="rId20"/>
    <p:sldId id="282" r:id="rId21"/>
    <p:sldId id="317" r:id="rId22"/>
    <p:sldId id="284" r:id="rId23"/>
    <p:sldId id="295" r:id="rId24"/>
    <p:sldId id="300" r:id="rId25"/>
    <p:sldId id="296" r:id="rId26"/>
    <p:sldId id="302" r:id="rId27"/>
    <p:sldId id="303" r:id="rId28"/>
    <p:sldId id="304" r:id="rId29"/>
    <p:sldId id="312" r:id="rId30"/>
    <p:sldId id="313" r:id="rId31"/>
    <p:sldId id="307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0" userDrawn="1">
          <p15:clr>
            <a:srgbClr val="A4A3A4"/>
          </p15:clr>
        </p15:guide>
        <p15:guide id="2" pos="38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4" y="48"/>
      </p:cViewPr>
      <p:guideLst>
        <p:guide orient="horz" pos="2120"/>
        <p:guide pos="38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5" Type="http://schemas.openxmlformats.org/officeDocument/2006/relationships/tableStyles" Target="tableStyles.xml"/><Relationship Id="rId34" Type="http://schemas.openxmlformats.org/officeDocument/2006/relationships/viewProps" Target="viewProps.xml"/><Relationship Id="rId33" Type="http://schemas.openxmlformats.org/officeDocument/2006/relationships/presProps" Target="presProps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04875" y="1069975"/>
            <a:ext cx="10266045" cy="1932305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模流分析报告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729778"/>
            <a:ext cx="9144000" cy="1655762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工程技术中心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翁叶浚、吴梓健、申芳华、张玉勋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4394503" y="21301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仿真工艺参数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浇排系统</a:t>
            </a:r>
            <a:r>
              <a:rPr lang="zh-CN" altLang="en-US" sz="3200" b="1" dirty="0"/>
              <a:t>三维图</a:t>
            </a:r>
            <a:endParaRPr lang="zh-CN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温度演变图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wendu1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温度演变图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wendu2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965835" y="5575935"/>
            <a:ext cx="925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dirty="0"/>
              <a:t> </a:t>
            </a:r>
            <a:r>
              <a:rPr lang="zh-CN" altLang="en-US" dirty="0"/>
              <a:t>充填结束阶段铸件平均料液温度处于液相线以上。冷料风险</a:t>
            </a:r>
            <a:r>
              <a:rPr lang="zh-CN" altLang="en-US" dirty="0"/>
              <a:t>较小。</a:t>
            </a:r>
            <a:endParaRPr lang="zh-CN" alt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70485" y="1030605"/>
            <a:ext cx="5796280" cy="4109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wendu1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6244590" y="1157605"/>
            <a:ext cx="5796280" cy="4109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wendu2</a:t>
            </a:r>
            <a:endParaRPr lang="en-US" altLang="zh-C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卷气演变图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VID_JUANQI1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卷气演变图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VID_JUANQI2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VID_TIJIJUANQI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46150" y="6028055"/>
            <a:ext cx="100431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dirty="0"/>
              <a:t> </a:t>
            </a:r>
            <a:r>
              <a:rPr lang="zh-CN" altLang="en-US" dirty="0"/>
              <a:t>大部分卷气能顺着渣包方向被收集，但是箭头所示部位，存在轻微卷气。</a:t>
            </a:r>
            <a:endParaRPr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71755" y="1232535"/>
            <a:ext cx="5438140" cy="34137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IMG_JUANQI1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6301105" y="1232535"/>
            <a:ext cx="5427980" cy="3477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IMG_JUANQI2</a:t>
            </a:r>
            <a:endParaRPr lang="en-US" alt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222057" y="6272124"/>
            <a:ext cx="90023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铸件内部总卷气质量约为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TIJIJUANQI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 dirty="0"/>
              <a:t>。</a:t>
            </a:r>
            <a:endParaRPr lang="en-US" altLang="zh-CN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IMG_TIJIJUANQI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卷气与气泡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VID_QIPAO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18845" y="6323330"/>
            <a:ext cx="103905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铸件内部分布着少量气泡</a:t>
            </a:r>
            <a:r>
              <a:rPr lang="en-US" altLang="zh-CN" sz="2400" dirty="0"/>
              <a:t>,</a:t>
            </a:r>
            <a:r>
              <a:rPr lang="zh-CN" altLang="en-US" sz="2400" dirty="0"/>
              <a:t>主要集中在卷气较多区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红色</a:t>
            </a:r>
            <a:r>
              <a:rPr lang="zh-CN" altLang="en-US" sz="2400" dirty="0">
                <a:solidFill>
                  <a:srgbClr val="FF0000"/>
                </a:solidFill>
              </a:rPr>
              <a:t>箭头标记部位</a:t>
            </a:r>
            <a:r>
              <a:rPr lang="en-US" altLang="zh-CN" sz="2400" dirty="0">
                <a:solidFill>
                  <a:srgbClr val="FF0000"/>
                </a:solidFill>
              </a:rPr>
              <a:t>)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IMG_QIPAO</a:t>
            </a:r>
            <a:endParaRPr lang="en-US" altLang="zh-C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氧化物追踪云图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VID_yanghuazha1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氧化物追踪云图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VID_yanghuazha2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氧化物数据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tijiyanghuazha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8542" y="6236704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铸件内氧化物主要集中在</a:t>
            </a:r>
            <a:r>
              <a:rPr lang="en-US" altLang="zh-CN" sz="2400" dirty="0"/>
              <a:t>   </a:t>
            </a:r>
            <a:r>
              <a:rPr lang="zh-CN" altLang="en-US" sz="2400" dirty="0"/>
              <a:t>。建议加大对应部位的渣包</a:t>
            </a:r>
            <a:r>
              <a:rPr lang="zh-CN" altLang="en-US" sz="2400" dirty="0"/>
              <a:t>体积。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-14605" y="1294765"/>
            <a:ext cx="5796280" cy="3442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IMG_yanghuazha1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6240780" y="1367790"/>
            <a:ext cx="5796280" cy="34423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IMG_yanghuazha2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铸件内氧化物含量约为</a:t>
            </a:r>
            <a:r>
              <a:rPr lang="en-US" altLang="zh-CN" sz="2400" dirty="0"/>
              <a:t> VAL_</a:t>
            </a:r>
            <a:r>
              <a:rPr lang="en-US" altLang="zh-CN" sz="2400">
                <a:sym typeface="+mn-ea"/>
              </a:rPr>
              <a:t>tijiyanghua</a:t>
            </a:r>
            <a:r>
              <a:rPr lang="en-US" altLang="zh-CN" sz="2400" dirty="0"/>
              <a:t>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36525"/>
            <a:ext cx="12041505" cy="53549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tijiyanghua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料流追踪</a:t>
            </a:r>
            <a:endParaRPr lang="zh-CN" altLang="en-US" sz="20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VID_liaoliuzhuizong1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料流追踪</a:t>
            </a:r>
            <a:endParaRPr lang="zh-CN" altLang="en-US" sz="20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VID_liaoliuzhuizong2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0" y="5873115"/>
            <a:ext cx="94748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料流填充比较顺畅，各个浇口之间干扰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较小。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0485" y="1379855"/>
            <a:ext cx="5482590" cy="4098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IMG_liaoliuzhuizong1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6362065" y="1506855"/>
            <a:ext cx="5482590" cy="4098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IMG_liaoliuzhuizong2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凝固与缩孔（缩孔率和缩孔</a:t>
            </a:r>
            <a:r>
              <a:rPr lang="zh-CN" altLang="en-US" sz="2000" b="1" dirty="0"/>
              <a:t>体积）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52959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52959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VID_suokongtiji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07950" y="6028055"/>
            <a:ext cx="119818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图示部位壁厚较厚，特征为两槽位之间与凸台，凝固较慢，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缩孔开始形成时间约为</a:t>
            </a:r>
            <a:r>
              <a:rPr lang="en-US" altLang="zh-CN" sz="2400" dirty="0">
                <a:solidFill>
                  <a:srgbClr val="FF0000"/>
                </a:solidFill>
              </a:rPr>
              <a:t>1.02S</a:t>
            </a:r>
            <a:r>
              <a:rPr lang="zh-CN" altLang="en-US" sz="2400" dirty="0">
                <a:solidFill>
                  <a:srgbClr val="FF0000"/>
                </a:solidFill>
              </a:rPr>
              <a:t>，浇口开始冷却时间</a:t>
            </a:r>
            <a:r>
              <a:rPr lang="zh-CN" altLang="en-US" sz="2400" dirty="0">
                <a:solidFill>
                  <a:srgbClr val="FF0000"/>
                </a:solidFill>
              </a:rPr>
              <a:t>约为</a:t>
            </a:r>
            <a:r>
              <a:rPr lang="en-US" altLang="zh-CN" sz="2400" dirty="0">
                <a:solidFill>
                  <a:srgbClr val="FF0000"/>
                </a:solidFill>
              </a:rPr>
              <a:t>1.18s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r>
              <a:rPr lang="en-US" altLang="zh-CN" sz="2400" dirty="0">
                <a:solidFill>
                  <a:srgbClr val="FF0000"/>
                </a:solidFill>
              </a:rPr>
              <a:t>,</a:t>
            </a:r>
            <a:r>
              <a:rPr lang="zh-CN" altLang="en-US" sz="2400" dirty="0"/>
              <a:t>为缩孔主要聚集地，可加强相关区域的</a:t>
            </a:r>
            <a:r>
              <a:rPr lang="zh-CN" altLang="en-US" sz="2400" dirty="0"/>
              <a:t>冷却。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223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</a:t>
            </a:r>
            <a:endParaRPr lang="en-US" altLang="zh-C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207770" y="6203315"/>
            <a:ext cx="103270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铸件内部缩孔率约为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suokonglv </a:t>
            </a:r>
            <a:r>
              <a:rPr lang="zh-CN" altLang="en-US" sz="2400" dirty="0"/>
              <a:t>，总缩孔体积约</a:t>
            </a:r>
            <a:r>
              <a:rPr lang="en-US" altLang="zh-CN" sz="2400" dirty="0"/>
              <a:t> </a:t>
            </a:r>
            <a:r>
              <a:rPr lang="en-US" altLang="zh-CN" sz="2400" dirty="0">
                <a:sym typeface="+mn-ea"/>
              </a:rPr>
              <a:t>VAL_</a:t>
            </a:r>
            <a:r>
              <a:rPr lang="en-US" altLang="zh-CN" sz="2400">
                <a:sym typeface="+mn-ea"/>
              </a:rPr>
              <a:t>suokongtiji</a:t>
            </a:r>
            <a:r>
              <a:rPr lang="en-US" altLang="zh-CN" sz="2400">
                <a:sym typeface="+mn-ea"/>
              </a:rPr>
              <a:t>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39878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39878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IMG_suokongtiji</a:t>
            </a:r>
            <a:endParaRPr lang="en-US" altLang="zh-C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热</a:t>
            </a:r>
            <a:r>
              <a:rPr lang="zh-CN" altLang="en-US" sz="2400" b="1" dirty="0"/>
              <a:t>节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VID_REJIE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热结代表的是铸件该位置的凝固时间长短，越慢凝固的区域在后续形成缩孔的可能性越大。建议持压时间大于</a:t>
            </a:r>
            <a:r>
              <a:rPr lang="en-US" altLang="zh-CN" sz="2400" dirty="0"/>
              <a:t>5s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6129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IMG_REJIE</a:t>
            </a:r>
            <a:endParaRPr lang="en-US" altLang="zh-C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气压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727075"/>
            <a:ext cx="5602605" cy="52247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VID_QIYA1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6077585" y="854075"/>
            <a:ext cx="5602605" cy="52247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VID_QIYA2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>
                <a:sym typeface="+mn-ea"/>
              </a:rPr>
              <a:t>气压越大，出现气孔等概率越高，如上图箭头所示部位气压比较大，出现气孔的风险高，建议局部调整渣包，或者加镶件、镶针、顶针等辅助排气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38150"/>
            <a:ext cx="5839460" cy="5250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IMG_QIYA1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6036945" y="565150"/>
            <a:ext cx="5839460" cy="52508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IMG_QIYA2</a:t>
            </a:r>
            <a:endParaRPr lang="en-US" altLang="zh-C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9206" y="630370"/>
            <a:ext cx="1660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结论：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65826" y="1614059"/>
            <a:ext cx="10955044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200" dirty="0">
                <a:sym typeface="+mn-ea"/>
              </a:rPr>
              <a:t>1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大部分卷气能顺着渣包方向被收集，但是</a:t>
            </a:r>
            <a:r>
              <a:rPr lang="zh-CN" altLang="en-US" sz="3200" dirty="0">
                <a:sym typeface="+mn-ea"/>
              </a:rPr>
              <a:t>部分部位存在轻微卷气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2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铸件内部缩孔率约为</a:t>
            </a:r>
            <a:r>
              <a:rPr lang="en-US" altLang="zh-CN" sz="3200" dirty="0">
                <a:sym typeface="+mn-ea"/>
              </a:rPr>
              <a:t>VAL_</a:t>
            </a:r>
            <a:r>
              <a:rPr lang="en-US" altLang="zh-CN" sz="3200">
                <a:sym typeface="+mn-ea"/>
              </a:rPr>
              <a:t>suokonglv </a:t>
            </a:r>
            <a:r>
              <a:rPr lang="zh-CN" altLang="en-US" sz="3200" dirty="0">
                <a:sym typeface="+mn-ea"/>
              </a:rPr>
              <a:t>，总缩孔体积约</a:t>
            </a:r>
            <a:r>
              <a:rPr lang="en-US" altLang="zh-CN" sz="3200" dirty="0">
                <a:sym typeface="+mn-ea"/>
              </a:rPr>
              <a:t> </a:t>
            </a:r>
            <a:r>
              <a:rPr lang="en-US" altLang="zh-CN" sz="3200" dirty="0">
                <a:sym typeface="+mn-ea"/>
              </a:rPr>
              <a:t>VAL_</a:t>
            </a:r>
            <a:r>
              <a:rPr lang="en-US" altLang="zh-CN" sz="3200">
                <a:sym typeface="+mn-ea"/>
              </a:rPr>
              <a:t>suokongtiji </a:t>
            </a:r>
            <a:r>
              <a:rPr lang="zh-CN" altLang="en-US" sz="3200" dirty="0">
                <a:sym typeface="+mn-ea"/>
              </a:rPr>
              <a:t>。缩孔主要集中在凝固较慢区域</a:t>
            </a:r>
            <a:r>
              <a:rPr lang="zh-CN" altLang="en-US" sz="3200" dirty="0">
                <a:sym typeface="+mn-ea"/>
              </a:rPr>
              <a:t>。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3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铸件内边缘氧化物含量较高。</a:t>
            </a:r>
            <a:endParaRPr lang="zh-CN" altLang="en-US" sz="3200" dirty="0"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1122</Words>
  <Application>WPS 演示</Application>
  <PresentationFormat>宽屏</PresentationFormat>
  <Paragraphs>136</Paragraphs>
  <Slides>30</Slides>
  <Notes>0</Notes>
  <HiddenSlides>0</HiddenSlides>
  <MMClips>5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8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name-模流分析报告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   </cp:lastModifiedBy>
  <cp:revision>322</cp:revision>
  <dcterms:created xsi:type="dcterms:W3CDTF">2023-08-09T12:44:00Z</dcterms:created>
  <dcterms:modified xsi:type="dcterms:W3CDTF">2026-03-07T05:54:30Z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48E4DDF4A3CC46BF9DA6514C99E0020A_13</vt:lpwstr>
  </property>
</Properties>
</file>